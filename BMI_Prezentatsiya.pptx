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
   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16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3200" cy="6858000" type="custom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
   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0F3460"/>
              </a:gs>
              <a:gs pos="100000">
                <a:srgbClr val="1A1A2E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28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6829200"/>
            <a:ext cx="12193200" cy="288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11520000" y="0"/>
            <a:ext cx="673200" cy="6858000"/>
          </a:xfrm>
          <a:prstGeom prst="rect">
            <a:avLst/>
          </a:prstGeom>
          <a:solidFill>
            <a:srgbClr val="4361EE"/>
          </a:solidFill>
          <a:alpha val="15000"/>
          <a:ln>
            <a:noFill/>
          </a:ln>
        </p:spPr>
        <p:txBody>
          <a:bodyPr/>
          <a:lstStyle/>
        </p:txBody>
      </p:sp>
      <p:sp>
        <p:nvSpPr>
          <p:cNvPr id="105" name="s105"/>
          <p:cNvSpPr/>
          <p:nvPr/>
        </p:nvSpPr>
        <p:spPr>
          <a:xfrm>
            <a:off x="540000" y="540000"/>
            <a:ext cx="11113200" cy="2700000"/>
          </a:xfrm>
          <a:prstGeom prst="roundRect">
            <a:avLst>
              <a:gd name="adj" fmla="val 15000"/>
            </a:avLst>
          </a:prstGeom>
          <a:solidFill>
            <a:srgbClr val="16213E"/>
          </a:soli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6" name="s106"/>
          <p:cNvSpPr/>
          <p:nvPr/>
        </p:nvSpPr>
        <p:spPr>
          <a:xfrm>
            <a:off x="540000" y="540000"/>
            <a:ext cx="43200" cy="2700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7" name="t107"/>
          <p:cNvSpPr txBox="1">
            <a:spLocks noGrp="1"/>
          </p:cNvSpPr>
          <p:nvPr/>
        </p:nvSpPr>
        <p:spPr>
          <a:xfrm>
            <a:off x="792000" y="720000"/>
            <a:ext cx="1062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2600" b="1" i="0" dirty="0" smtClean="0">
                <a:solidFill>
                  <a:srgbClr val="F5A623"/>
                </a:solidFill>
              </a:rPr>
              <a:t>KO'P O'ZGARUVCHILI FUNKSIYANING</a:t>
            </a:r>
          </a:p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792000" y="1404000"/>
            <a:ext cx="1062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3200" b="1" i="0" dirty="0" smtClean="0">
                <a:solidFill>
                  <a:srgbClr val="FFFFFF"/>
                </a:solidFill>
              </a:rPr>
              <a:t>DIFFERENSIALI VA UNING</a:t>
            </a:r>
          </a:p>
          <a:p>
            <a:pPr algn="ctr"/>
            <a:r>
              <a:rPr lang="uz-UZ" sz="3200" b="1" i="0" dirty="0" smtClean="0">
                <a:solidFill>
                  <a:srgbClr val="E94560"/>
                </a:solidFill>
              </a:rPr>
              <a:t>AYRIM TADBIQLARI</a:t>
            </a:r>
          </a:p>
        </p:txBody>
      </p:sp>
      <p:sp>
        <p:nvSpPr>
          <p:cNvPr id="109" name="s109"/>
          <p:cNvSpPr/>
          <p:nvPr/>
        </p:nvSpPr>
        <p:spPr>
          <a:xfrm>
            <a:off x="2880000" y="1980000"/>
            <a:ext cx="6433200" cy="216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10" name="s110"/>
          <p:cNvSpPr/>
          <p:nvPr/>
        </p:nvSpPr>
        <p:spPr>
          <a:xfrm>
            <a:off x="540000" y="3600000"/>
            <a:ext cx="11113200" cy="1980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720000" y="3780000"/>
            <a:ext cx="1062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600" b="0" i="1" dirty="0" smtClean="0">
                <a:solidFill>
                  <a:srgbClr val="F5A623"/>
                </a:solidFill>
              </a:rPr>
              <a:t>Bitiruv Malakaviy Ishi</a:t>
            </a:r>
          </a:p>
          <a:p>
            <a:pPr algn="ctr"/>
            <a:r>
              <a:rPr lang="uz-UZ" sz="1300" b="0" i="0" dirty="0" smtClean="0">
                <a:solidFill>
                  <a:srgbClr val="E0E0E0"/>
                </a:solidFill>
              </a:rPr>
              <a:t>60110600 – Matematika va informatika ta'lim yo'nalishi</a:t>
            </a:r>
          </a:p>
        </p:txBody>
      </p:sp>
      <p:sp>
        <p:nvSpPr>
          <p:cNvPr id="112" name="s112"/>
          <p:cNvSpPr/>
          <p:nvPr/>
        </p:nvSpPr>
        <p:spPr>
          <a:xfrm>
            <a:off x="900000" y="4680000"/>
            <a:ext cx="10080000" cy="18000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txBody>
          <a:bodyPr/>
          <a:lstStyle/>
        </p:txBody>
      </p:sp>
      <p:sp>
        <p:nvSpPr>
          <p:cNvPr id="113" name="t113"/>
          <p:cNvSpPr txBox="1">
            <a:spLocks noGrp="1"/>
          </p:cNvSpPr>
          <p:nvPr/>
        </p:nvSpPr>
        <p:spPr>
          <a:xfrm>
            <a:off x="720000" y="4788000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200" b="0" i="0" dirty="0" smtClean="0">
                <a:solidFill>
                  <a:srgbClr val="A0A0B0"/>
                </a:solidFill>
              </a:rPr>
              <a:t>Bajardi:</a:t>
            </a:r>
          </a:p>
          <a:p>
            <a:pPr algn="ctr"/>
            <a:r>
              <a:rPr lang="uz-UZ" sz="1800" b="1" i="0" dirty="0" smtClean="0">
                <a:solidFill>
                  <a:srgbClr val="FFFFFF"/>
                </a:solidFill>
              </a:rPr>
              <a:t>Samadov Asliddin</a:t>
            </a:r>
          </a:p>
          <a:p>
            <a:pPr algn="ctr"/>
            <a:r>
              <a:rPr lang="uz-UZ" sz="1600" b="1" i="0" dirty="0" smtClean="0">
                <a:solidFill>
                  <a:srgbClr val="FFFFFF"/>
                </a:solidFill>
              </a:rPr>
              <a:t>Zafarjon o'g'li</a:t>
            </a:r>
          </a:p>
        </p:txBody>
      </p:sp>
      <p:sp>
        <p:nvSpPr>
          <p:cNvPr id="114" name="s114"/>
          <p:cNvSpPr/>
          <p:nvPr/>
        </p:nvSpPr>
        <p:spPr>
          <a:xfrm>
            <a:off x="6120000" y="4680000"/>
            <a:ext cx="25200" cy="1007999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15" name="t115"/>
          <p:cNvSpPr txBox="1">
            <a:spLocks noGrp="1"/>
          </p:cNvSpPr>
          <p:nvPr/>
        </p:nvSpPr>
        <p:spPr>
          <a:xfrm>
            <a:off x="6480000" y="4788000"/>
            <a:ext cx="50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200" b="0" i="0" dirty="0" smtClean="0">
                <a:solidFill>
                  <a:srgbClr val="A0A0B0"/>
                </a:solidFill>
              </a:rPr>
              <a:t>Ilmiy rahbar:</a:t>
            </a:r>
          </a:p>
          <a:p>
            <a:pPr algn="ctr"/>
            <a:r>
              <a:rPr lang="uz-UZ" sz="1600" b="1" i="0" dirty="0" smtClean="0">
                <a:solidFill>
                  <a:srgbClr val="FFFFFF"/>
                </a:solidFill>
              </a:rPr>
              <a:t>v.b.dots. Majidov Sh. A.</a:t>
            </a:r>
          </a:p>
          <a:p>
            <a:pPr algn="ctr"/>
            <a:r>
              <a:rPr lang="uz-UZ" sz="1200" b="0" i="0" dirty="0" smtClean="0">
                <a:solidFill>
                  <a:srgbClr val="F5A623"/>
                </a:solidFill>
              </a:rPr>
              <a:t>NAVOIY DAVLAT UNIVERSITETI, 2025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MUNDARIJA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Bitiruv malakaviy ishining tuzilishi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12000"/>
            <a:ext cx="5652000" cy="4968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12000"/>
            <a:ext cx="108000" cy="49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540000" y="1620000"/>
            <a:ext cx="5220000" cy="468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>
              <a:spcAft>
                <a:spcPts val="300"/>
              </a:spcAft>
            </a:pPr>
            <a:r>
              <a:rPr lang="uz-UZ" sz="1800" b="1" i="0" dirty="0" smtClean="0">
                <a:solidFill>
                  <a:srgbClr val="E94560"/>
                </a:solidFill>
              </a:rPr>
              <a:t>I - BOB</a:t>
            </a:r>
          </a:p>
          <a:p>
            <a:pPr algn="left"/>
            <a:r>
              <a:rPr lang="uz-UZ" sz="1300" b="1" i="0" dirty="0" smtClean="0">
                <a:solidFill>
                  <a:srgbClr val="F5A623"/>
                </a:solidFill>
              </a:rPr>
              <a:t>Ko'p o'zgaruvchili funksiyaning</a:t>
            </a:r>
          </a:p>
          <a:p>
            <a:pPr algn="left">
              <a:spcAft>
                <a:spcPts val="400"/>
              </a:spcAft>
            </a:pPr>
            <a:r>
              <a:rPr lang="uz-UZ" sz="1300" b="1" i="0" dirty="0" smtClean="0">
                <a:solidFill>
                  <a:srgbClr val="F5A623"/>
                </a:solidFill>
              </a:rPr>
              <a:t>hosilasi va differensiali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1.1  Xususiy hosilalar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1.2  Differensiallanuvchilik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1.3  To'liq differensial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1.4  Yuqori tartibli hosilalar</a:t>
            </a:r>
          </a:p>
          <a:p>
            <a:endParaRPr lang="uz-UZ" dirty="0"/>
          </a:p>
          <a:p>
            <a:pPr algn="left"/>
            <a:r>
              <a:rPr lang="uz-UZ" sz="1200" b="0" i="1" dirty="0" smtClean="0">
                <a:solidFill>
                  <a:srgbClr val="A0A0B0"/>
                </a:solidFill>
              </a:rPr>
              <a:t>Jami: 4 ta mavzu</a:t>
            </a:r>
          </a:p>
        </p:txBody>
      </p:sp>
      <p:sp>
        <p:nvSpPr>
          <p:cNvPr id="109" name="s109"/>
          <p:cNvSpPr/>
          <p:nvPr/>
        </p:nvSpPr>
        <p:spPr>
          <a:xfrm>
            <a:off x="6228000" y="1512000"/>
            <a:ext cx="5652000" cy="4968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F5A623"/>
            </a:solidFill>
          </a:ln>
          <a:effectLst>
            <a:glow rad="50000">
              <a:srgbClr val="F5A623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0" name="s110"/>
          <p:cNvSpPr/>
          <p:nvPr/>
        </p:nvSpPr>
        <p:spPr>
          <a:xfrm>
            <a:off x="6228000" y="1512000"/>
            <a:ext cx="108000" cy="496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6480000" y="1620000"/>
            <a:ext cx="5220000" cy="468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>
              <a:spcAft>
                <a:spcPts val="300"/>
              </a:spcAft>
            </a:pPr>
            <a:r>
              <a:rPr lang="uz-UZ" sz="1800" b="1" i="0" dirty="0" smtClean="0">
                <a:solidFill>
                  <a:srgbClr val="F5A623"/>
                </a:solidFill>
              </a:rPr>
              <a:t>II - BOB</a:t>
            </a:r>
          </a:p>
          <a:p>
            <a:pPr algn="left"/>
            <a:r>
              <a:rPr lang="uz-UZ" sz="1300" b="1" i="0" dirty="0" smtClean="0">
                <a:solidFill>
                  <a:srgbClr val="E94560"/>
                </a:solidFill>
              </a:rPr>
              <a:t>Differensialning</a:t>
            </a:r>
          </a:p>
          <a:p>
            <a:pPr algn="left">
              <a:spcAft>
                <a:spcPts val="400"/>
              </a:spcAft>
            </a:pPr>
            <a:r>
              <a:rPr lang="uz-UZ" sz="1300" b="1" i="0" dirty="0" smtClean="0">
                <a:solidFill>
                  <a:srgbClr val="E94560"/>
                </a:solidFill>
              </a:rPr>
              <a:t>ayrim tadbiqlari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2.1  Taqribiy hisoblash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2.2  Yo'nalish bo'yicha hosila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2.3  Teylor formulasi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2.4  Ekstremum qiymatlari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2.5  Eng kichik kvadratlar</a:t>
            </a:r>
          </a:p>
          <a:p>
            <a:endParaRPr lang="uz-UZ" dirty="0"/>
          </a:p>
          <a:p>
            <a:pPr algn="left"/>
            <a:r>
              <a:rPr lang="uz-UZ" sz="1200" b="0" i="1" dirty="0" smtClean="0">
                <a:solidFill>
                  <a:srgbClr val="A0A0B0"/>
                </a:solidFill>
              </a:rPr>
              <a:t>Xulosa  |  Adabiyotlar</a:t>
            </a:r>
          </a:p>
        </p:txBody>
      </p:sp>
      <p:sp>
        <p:nvSpPr>
          <p:cNvPr id="112" name="t112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2 / 15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KIRISH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Mavzuning dolzarbligi va asosi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1007999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FFD700"/>
            </a:solidFill>
          </a:ln>
          <a:effectLst>
            <a:glow rad="50000">
              <a:srgbClr val="FFD70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48000"/>
            <a:ext cx="108000" cy="1007999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540000" y="1620000"/>
            <a:ext cx="11160000" cy="86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i="0" dirty="0" smtClean="0">
                <a:solidFill>
                  <a:srgbClr val="FFD700"/>
                </a:solidFill>
              </a:rPr>
              <a:t>O'zbekiston Respublikasi Prezidentining PQ-4708-sonli qarori (2020-yil, 7-may)</a:t>
            </a:r>
          </a:p>
          <a:p>
            <a:pPr algn="left"/>
            <a:r>
              <a:rPr lang="uz-UZ" sz="1200" b="0" i="1" dirty="0" smtClean="0">
                <a:solidFill>
                  <a:srgbClr val="E0E0E0"/>
                </a:solidFill>
              </a:rPr>
              <a:t>"Matematika sohasidagi ta'lim sifatini oshirish va ilmiy-tadqiqotlarni rivojlantirish chora-tadbirlari to'g'risida"</a:t>
            </a:r>
          </a:p>
        </p:txBody>
      </p:sp>
      <p:sp>
        <p:nvSpPr>
          <p:cNvPr id="109" name="s109"/>
          <p:cNvSpPr/>
          <p:nvPr/>
        </p:nvSpPr>
        <p:spPr>
          <a:xfrm>
            <a:off x="288000" y="2736000"/>
            <a:ext cx="5652000" cy="1728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0" name="s110"/>
          <p:cNvSpPr/>
          <p:nvPr/>
        </p:nvSpPr>
        <p:spPr>
          <a:xfrm>
            <a:off x="288000" y="2736000"/>
            <a:ext cx="108000" cy="172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648000" y="2844000"/>
            <a:ext cx="50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2000" b="1" dirty="0">
                <a:solidFill>
                  <a:srgbClr val="E94560"/>
                </a:solidFill>
              </a:rPr>
              <a:t>▲ </a:t>
            </a:r>
            <a:r>
              <a:rPr lang="uz-UZ" sz="1700" b="1" dirty="0">
                <a:solidFill>
                  <a:srgbClr val="FFFFFF"/>
                </a:solidFill>
              </a:rPr>
              <a:t>Ko'p Faktorli</a:t>
            </a:r>
          </a:p>
        </p:txBody>
      </p:sp>
      <p:sp>
        <p:nvSpPr>
          <p:cNvPr id="112" name="t112"/>
          <p:cNvSpPr txBox="1">
            <a:spLocks noGrp="1"/>
          </p:cNvSpPr>
          <p:nvPr/>
        </p:nvSpPr>
        <p:spPr>
          <a:xfrm>
            <a:off x="468000" y="3348000"/>
            <a:ext cx="5328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Zamonaviy muammolar bir nechta omilga bog'liq bo'lib, bir o'zgaruvchili funksiyalar ularni to'liq ifodalay olmaydi</a:t>
            </a:r>
          </a:p>
        </p:txBody>
      </p:sp>
      <p:sp>
        <p:nvSpPr>
          <p:cNvPr id="113" name="s113"/>
          <p:cNvSpPr/>
          <p:nvPr/>
        </p:nvSpPr>
        <p:spPr>
          <a:xfrm>
            <a:off x="6228000" y="2736000"/>
            <a:ext cx="5652000" cy="1728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4361EE"/>
            </a:solidFill>
          </a:ln>
          <a:effectLst>
            <a:glow rad="50000">
              <a:srgbClr val="4361EE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4" name="s114"/>
          <p:cNvSpPr/>
          <p:nvPr/>
        </p:nvSpPr>
        <p:spPr>
          <a:xfrm>
            <a:off x="6228000" y="2736000"/>
            <a:ext cx="108000" cy="1728000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txBody>
          <a:bodyPr/>
          <a:lstStyle/>
        </p:txBody>
      </p:sp>
      <p:sp>
        <p:nvSpPr>
          <p:cNvPr id="115" name="t115"/>
          <p:cNvSpPr txBox="1">
            <a:spLocks noGrp="1"/>
          </p:cNvSpPr>
          <p:nvPr/>
        </p:nvSpPr>
        <p:spPr>
          <a:xfrm>
            <a:off x="6588000" y="2844000"/>
            <a:ext cx="50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2000" b="1" dirty="0">
                <a:solidFill>
                  <a:srgbClr val="4361EE"/>
                </a:solidFill>
              </a:rPr>
              <a:t>◆ </a:t>
            </a:r>
            <a:r>
              <a:rPr lang="uz-UZ" sz="1700" b="1" dirty="0">
                <a:solidFill>
                  <a:srgbClr val="FFFFFF"/>
                </a:solidFill>
              </a:rPr>
              <a:t>Amaliy Ahamiyat</a:t>
            </a:r>
          </a:p>
        </p:txBody>
      </p:sp>
      <p:sp>
        <p:nvSpPr>
          <p:cNvPr id="116" name="t116"/>
          <p:cNvSpPr txBox="1">
            <a:spLocks noGrp="1"/>
          </p:cNvSpPr>
          <p:nvPr/>
        </p:nvSpPr>
        <p:spPr>
          <a:xfrm>
            <a:off x="6408000" y="3348000"/>
            <a:ext cx="5328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Fizika, iqtisodiyot, kimyo va muhandislikda keng qo'llaniladi</a:t>
            </a:r>
          </a:p>
        </p:txBody>
      </p:sp>
      <p:sp>
        <p:nvSpPr>
          <p:cNvPr id="117" name="s117"/>
          <p:cNvSpPr/>
          <p:nvPr/>
        </p:nvSpPr>
        <p:spPr>
          <a:xfrm>
            <a:off x="288000" y="4643999"/>
            <a:ext cx="5652000" cy="1728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glow rad="50000">
              <a:srgbClr val="06D6A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8" name="s118"/>
          <p:cNvSpPr/>
          <p:nvPr/>
        </p:nvSpPr>
        <p:spPr>
          <a:xfrm>
            <a:off x="288000" y="4643999"/>
            <a:ext cx="108000" cy="17280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19" name="t119"/>
          <p:cNvSpPr txBox="1">
            <a:spLocks noGrp="1"/>
          </p:cNvSpPr>
          <p:nvPr/>
        </p:nvSpPr>
        <p:spPr>
          <a:xfrm>
            <a:off x="648000" y="4751999"/>
            <a:ext cx="50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2000" b="1" dirty="0">
                <a:solidFill>
                  <a:srgbClr val="06D6A0"/>
                </a:solidFill>
              </a:rPr>
              <a:t>● </a:t>
            </a:r>
            <a:r>
              <a:rPr lang="uz-UZ" sz="1700" b="1" dirty="0">
                <a:solidFill>
                  <a:srgbClr val="FFFFFF"/>
                </a:solidFill>
              </a:rPr>
              <a:t>Optimallashtirish</a:t>
            </a:r>
          </a:p>
        </p:txBody>
      </p:sp>
      <p:sp>
        <p:nvSpPr>
          <p:cNvPr id="120" name="t120"/>
          <p:cNvSpPr txBox="1">
            <a:spLocks noGrp="1"/>
          </p:cNvSpPr>
          <p:nvPr/>
        </p:nvSpPr>
        <p:spPr>
          <a:xfrm>
            <a:off x="468000" y="5255999"/>
            <a:ext cx="5328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Eng yaxshi yechim topish uchun asosiy matematik apparat</a:t>
            </a:r>
          </a:p>
        </p:txBody>
      </p:sp>
      <p:sp>
        <p:nvSpPr>
          <p:cNvPr id="121" name="s121"/>
          <p:cNvSpPr/>
          <p:nvPr/>
        </p:nvSpPr>
        <p:spPr>
          <a:xfrm>
            <a:off x="6228000" y="4643999"/>
            <a:ext cx="5652000" cy="1728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F5A623"/>
            </a:solidFill>
          </a:ln>
          <a:effectLst>
            <a:glow rad="50000">
              <a:srgbClr val="F5A623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22" name="s122"/>
          <p:cNvSpPr/>
          <p:nvPr/>
        </p:nvSpPr>
        <p:spPr>
          <a:xfrm>
            <a:off x="6228000" y="4643999"/>
            <a:ext cx="108000" cy="172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23" name="t123"/>
          <p:cNvSpPr txBox="1">
            <a:spLocks noGrp="1"/>
          </p:cNvSpPr>
          <p:nvPr/>
        </p:nvSpPr>
        <p:spPr>
          <a:xfrm>
            <a:off x="6588000" y="4751999"/>
            <a:ext cx="50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2000" b="1" dirty="0">
                <a:solidFill>
                  <a:srgbClr val="F5A623"/>
                </a:solidFill>
              </a:rPr>
              <a:t>★ </a:t>
            </a:r>
            <a:r>
              <a:rPr lang="uz-UZ" sz="1700" b="1" dirty="0">
                <a:solidFill>
                  <a:srgbClr val="FFFFFF"/>
                </a:solidFill>
              </a:rPr>
              <a:t>Modellashtirish</a:t>
            </a:r>
          </a:p>
        </p:txBody>
      </p:sp>
      <p:sp>
        <p:nvSpPr>
          <p:cNvPr id="124" name="t124"/>
          <p:cNvSpPr txBox="1">
            <a:spLocks noGrp="1"/>
          </p:cNvSpPr>
          <p:nvPr/>
        </p:nvSpPr>
        <p:spPr>
          <a:xfrm>
            <a:off x="6408000" y="5255999"/>
            <a:ext cx="5328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Real dunyo jarayonlarini matematik tilda aniq ifodalash imkoni</a:t>
            </a:r>
          </a:p>
        </p:txBody>
      </p:sp>
      <p:sp>
        <p:nvSpPr>
          <p:cNvPr id="125" name="t125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3 / 15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TADQIQOT MAQSADI VA VAZIFALARI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Bitiruv ishining asosiy yo'nalishlari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90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t107"/>
          <p:cNvSpPr txBox="1">
            <a:spLocks noGrp="1"/>
          </p:cNvSpPr>
          <p:nvPr/>
        </p:nvSpPr>
        <p:spPr>
          <a:xfrm>
            <a:off x="540000" y="1620000"/>
            <a:ext cx="1116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dirty="0">
                <a:solidFill>
                  <a:srgbClr val="E94560"/>
                </a:solidFill>
              </a:rPr>
              <a:t>MAQSAD: </a:t>
            </a:r>
            <a:r>
              <a:rPr lang="uz-UZ" sz="1400" b="0" dirty="0">
                <a:solidFill>
                  <a:srgbClr val="FFFFFF"/>
                </a:solidFill>
              </a:rPr>
              <a:t>Ko'p o'zgaruvchili funksiyalar differensial hisobining nazariy asoslarini tizimli o'rganish</a:t>
            </a:r>
          </a:p>
          <a:p>
            <a:pPr algn="left"/>
            <a:r>
              <a:rPr lang="uz-UZ" sz="1300" b="0" i="1" dirty="0" smtClean="0">
                <a:solidFill>
                  <a:srgbClr val="E0E0E0"/>
                </a:solidFill>
              </a:rPr>
              <a:t>va amaliy masalalarga tatbiq etish ko'nikmalarini shakllantirish</a:t>
            </a:r>
          </a:p>
        </p:txBody>
      </p:sp>
      <p:sp>
        <p:nvSpPr>
          <p:cNvPr id="108" name="s108"/>
          <p:cNvSpPr/>
          <p:nvPr/>
        </p:nvSpPr>
        <p:spPr>
          <a:xfrm>
            <a:off x="288000" y="2664000"/>
            <a:ext cx="11627999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E9456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09" name="t109"/>
          <p:cNvSpPr txBox="1">
            <a:spLocks noGrp="1"/>
          </p:cNvSpPr>
          <p:nvPr/>
        </p:nvSpPr>
        <p:spPr>
          <a:xfrm>
            <a:off x="432000" y="2736000"/>
            <a:ext cx="90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2200" b="1" i="0" dirty="0" smtClean="0">
                <a:solidFill>
                  <a:srgbClr val="E94560"/>
                </a:solidFill>
              </a:rPr>
              <a:t>01</a:t>
            </a:r>
          </a:p>
        </p:txBody>
      </p:sp>
      <p:sp>
        <p:nvSpPr>
          <p:cNvPr id="110" name="s110"/>
          <p:cNvSpPr/>
          <p:nvPr/>
        </p:nvSpPr>
        <p:spPr>
          <a:xfrm>
            <a:off x="1260000" y="2772000"/>
            <a:ext cx="21600" cy="503999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1404000" y="2718000"/>
            <a:ext cx="486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Nazariy tahlil</a:t>
            </a:r>
          </a:p>
        </p:txBody>
      </p:sp>
      <p:sp>
        <p:nvSpPr>
          <p:cNvPr id="112" name="t112"/>
          <p:cNvSpPr txBox="1">
            <a:spLocks noGrp="1"/>
          </p:cNvSpPr>
          <p:nvPr/>
        </p:nvSpPr>
        <p:spPr>
          <a:xfrm>
            <a:off x="1404000" y="3042000"/>
            <a:ext cx="1000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200" b="0" i="1" dirty="0" smtClean="0">
                <a:solidFill>
                  <a:srgbClr val="E0E0E0"/>
                </a:solidFill>
              </a:rPr>
              <a:t>Funksiya, aniqlash sohasi, uzluksizlik tushunchalarini bayon etish</a:t>
            </a:r>
          </a:p>
        </p:txBody>
      </p:sp>
      <p:sp>
        <p:nvSpPr>
          <p:cNvPr id="113" name="s113"/>
          <p:cNvSpPr/>
          <p:nvPr/>
        </p:nvSpPr>
        <p:spPr>
          <a:xfrm>
            <a:off x="288000" y="3456000"/>
            <a:ext cx="11627999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4" name="t114"/>
          <p:cNvSpPr txBox="1">
            <a:spLocks noGrp="1"/>
          </p:cNvSpPr>
          <p:nvPr/>
        </p:nvSpPr>
        <p:spPr>
          <a:xfrm>
            <a:off x="432000" y="3528000"/>
            <a:ext cx="90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2200" b="1" i="0" dirty="0" smtClean="0">
                <a:solidFill>
                  <a:srgbClr val="4361EE"/>
                </a:solidFill>
              </a:rPr>
              <a:t>02</a:t>
            </a:r>
          </a:p>
        </p:txBody>
      </p:sp>
      <p:sp>
        <p:nvSpPr>
          <p:cNvPr id="115" name="s115"/>
          <p:cNvSpPr/>
          <p:nvPr/>
        </p:nvSpPr>
        <p:spPr>
          <a:xfrm>
            <a:off x="1260000" y="3564000"/>
            <a:ext cx="21600" cy="503999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txBody>
          <a:bodyPr/>
          <a:lstStyle/>
        </p:txBody>
      </p:sp>
      <p:sp>
        <p:nvSpPr>
          <p:cNvPr id="116" name="t116"/>
          <p:cNvSpPr txBox="1">
            <a:spLocks noGrp="1"/>
          </p:cNvSpPr>
          <p:nvPr/>
        </p:nvSpPr>
        <p:spPr>
          <a:xfrm>
            <a:off x="1404000" y="3510000"/>
            <a:ext cx="486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Differensiallash</a:t>
            </a:r>
          </a:p>
        </p:txBody>
      </p:sp>
      <p:sp>
        <p:nvSpPr>
          <p:cNvPr id="117" name="t117"/>
          <p:cNvSpPr txBox="1">
            <a:spLocks noGrp="1"/>
          </p:cNvSpPr>
          <p:nvPr/>
        </p:nvSpPr>
        <p:spPr>
          <a:xfrm>
            <a:off x="1404000" y="3834000"/>
            <a:ext cx="1000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200" b="0" i="1" dirty="0" smtClean="0">
                <a:solidFill>
                  <a:srgbClr val="E0E0E0"/>
                </a:solidFill>
              </a:rPr>
              <a:t>Xususiy hosilalar va to'la differensial hisoblash usullarini o'rganish</a:t>
            </a:r>
          </a:p>
        </p:txBody>
      </p:sp>
      <p:sp>
        <p:nvSpPr>
          <p:cNvPr id="118" name="s118"/>
          <p:cNvSpPr/>
          <p:nvPr/>
        </p:nvSpPr>
        <p:spPr>
          <a:xfrm>
            <a:off x="288000" y="4248000"/>
            <a:ext cx="11627999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9" name="t119"/>
          <p:cNvSpPr txBox="1">
            <a:spLocks noGrp="1"/>
          </p:cNvSpPr>
          <p:nvPr/>
        </p:nvSpPr>
        <p:spPr>
          <a:xfrm>
            <a:off x="432000" y="4320000"/>
            <a:ext cx="90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2200" b="1" i="0" dirty="0" smtClean="0">
                <a:solidFill>
                  <a:srgbClr val="06D6A0"/>
                </a:solidFill>
              </a:rPr>
              <a:t>03</a:t>
            </a:r>
          </a:p>
        </p:txBody>
      </p:sp>
      <p:sp>
        <p:nvSpPr>
          <p:cNvPr id="120" name="s120"/>
          <p:cNvSpPr/>
          <p:nvPr/>
        </p:nvSpPr>
        <p:spPr>
          <a:xfrm>
            <a:off x="1260000" y="4356000"/>
            <a:ext cx="21600" cy="503999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21" name="t121"/>
          <p:cNvSpPr txBox="1">
            <a:spLocks noGrp="1"/>
          </p:cNvSpPr>
          <p:nvPr/>
        </p:nvSpPr>
        <p:spPr>
          <a:xfrm>
            <a:off x="1404000" y="4302000"/>
            <a:ext cx="486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Geometrik ma'no</a:t>
            </a:r>
          </a:p>
        </p:txBody>
      </p:sp>
      <p:sp>
        <p:nvSpPr>
          <p:cNvPr id="122" name="t122"/>
          <p:cNvSpPr txBox="1">
            <a:spLocks noGrp="1"/>
          </p:cNvSpPr>
          <p:nvPr/>
        </p:nvSpPr>
        <p:spPr>
          <a:xfrm>
            <a:off x="1404000" y="4626000"/>
            <a:ext cx="1000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200" b="0" i="1" dirty="0" smtClean="0">
                <a:solidFill>
                  <a:srgbClr val="E0E0E0"/>
                </a:solidFill>
              </a:rPr>
              <a:t>Gradient, yo'nalish bo'yicha hosila, urinma tekislik tenglamalari</a:t>
            </a:r>
          </a:p>
        </p:txBody>
      </p:sp>
      <p:sp>
        <p:nvSpPr>
          <p:cNvPr id="123" name="s123"/>
          <p:cNvSpPr/>
          <p:nvPr/>
        </p:nvSpPr>
        <p:spPr>
          <a:xfrm>
            <a:off x="288000" y="5040000"/>
            <a:ext cx="11627999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F5A623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24" name="t124"/>
          <p:cNvSpPr txBox="1">
            <a:spLocks noGrp="1"/>
          </p:cNvSpPr>
          <p:nvPr/>
        </p:nvSpPr>
        <p:spPr>
          <a:xfrm>
            <a:off x="432000" y="5112000"/>
            <a:ext cx="90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2200" b="1" i="0" dirty="0" smtClean="0">
                <a:solidFill>
                  <a:srgbClr val="F5A623"/>
                </a:solidFill>
              </a:rPr>
              <a:t>04</a:t>
            </a:r>
          </a:p>
        </p:txBody>
      </p:sp>
      <p:sp>
        <p:nvSpPr>
          <p:cNvPr id="125" name="s125"/>
          <p:cNvSpPr/>
          <p:nvPr/>
        </p:nvSpPr>
        <p:spPr>
          <a:xfrm>
            <a:off x="1260000" y="5148000"/>
            <a:ext cx="21600" cy="503999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26" name="t126"/>
          <p:cNvSpPr txBox="1">
            <a:spLocks noGrp="1"/>
          </p:cNvSpPr>
          <p:nvPr/>
        </p:nvSpPr>
        <p:spPr>
          <a:xfrm>
            <a:off x="1404000" y="5094000"/>
            <a:ext cx="486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Taqribiy hisoblash</a:t>
            </a:r>
          </a:p>
        </p:txBody>
      </p:sp>
      <p:sp>
        <p:nvSpPr>
          <p:cNvPr id="127" name="t127"/>
          <p:cNvSpPr txBox="1">
            <a:spLocks noGrp="1"/>
          </p:cNvSpPr>
          <p:nvPr/>
        </p:nvSpPr>
        <p:spPr>
          <a:xfrm>
            <a:off x="1404000" y="5418000"/>
            <a:ext cx="1000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200" b="0" i="1" dirty="0" smtClean="0">
                <a:solidFill>
                  <a:srgbClr val="E0E0E0"/>
                </a:solidFill>
              </a:rPr>
              <a:t>Teylor va Makloren formulalarini ko'p o'zgaruvchili holga tatbiq etish</a:t>
            </a:r>
          </a:p>
        </p:txBody>
      </p:sp>
      <p:sp>
        <p:nvSpPr>
          <p:cNvPr id="128" name="s128"/>
          <p:cNvSpPr/>
          <p:nvPr/>
        </p:nvSpPr>
        <p:spPr>
          <a:xfrm>
            <a:off x="288000" y="5832000"/>
            <a:ext cx="11627999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7B2FB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29" name="t129"/>
          <p:cNvSpPr txBox="1">
            <a:spLocks noGrp="1"/>
          </p:cNvSpPr>
          <p:nvPr/>
        </p:nvSpPr>
        <p:spPr>
          <a:xfrm>
            <a:off x="432000" y="5904000"/>
            <a:ext cx="90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2200" b="1" i="0" dirty="0" smtClean="0">
                <a:solidFill>
                  <a:srgbClr val="7B2FBE"/>
                </a:solidFill>
              </a:rPr>
              <a:t>05</a:t>
            </a:r>
          </a:p>
        </p:txBody>
      </p:sp>
      <p:sp>
        <p:nvSpPr>
          <p:cNvPr id="130" name="s130"/>
          <p:cNvSpPr/>
          <p:nvPr/>
        </p:nvSpPr>
        <p:spPr>
          <a:xfrm>
            <a:off x="1260000" y="5940000"/>
            <a:ext cx="21600" cy="503999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</p:txBody>
      </p:sp>
      <p:sp>
        <p:nvSpPr>
          <p:cNvPr id="131" name="t131"/>
          <p:cNvSpPr txBox="1">
            <a:spLocks noGrp="1"/>
          </p:cNvSpPr>
          <p:nvPr/>
        </p:nvSpPr>
        <p:spPr>
          <a:xfrm>
            <a:off x="1404000" y="5886000"/>
            <a:ext cx="486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Ekstremumlar</a:t>
            </a:r>
          </a:p>
        </p:txBody>
      </p:sp>
      <p:sp>
        <p:nvSpPr>
          <p:cNvPr id="132" name="t132"/>
          <p:cNvSpPr txBox="1">
            <a:spLocks noGrp="1"/>
          </p:cNvSpPr>
          <p:nvPr/>
        </p:nvSpPr>
        <p:spPr>
          <a:xfrm>
            <a:off x="1404000" y="6210000"/>
            <a:ext cx="10008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200" b="0" i="1" dirty="0" smtClean="0">
                <a:solidFill>
                  <a:srgbClr val="E0E0E0"/>
                </a:solidFill>
              </a:rPr>
              <a:t>Statsionar nuqtalar, Gesse matritsasi, Silvestr alomati</a:t>
            </a:r>
          </a:p>
        </p:txBody>
      </p:sp>
      <p:sp>
        <p:nvSpPr>
          <p:cNvPr id="133" name="t133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4 / 15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1.1. XUSUSIY HOSILALAR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Partial Derivatives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108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07" name="t107"/>
          <p:cNvSpPr txBox="1">
            <a:spLocks noGrp="1"/>
          </p:cNvSpPr>
          <p:nvPr/>
        </p:nvSpPr>
        <p:spPr>
          <a:xfrm>
            <a:off x="540000" y="1620000"/>
            <a:ext cx="11160000" cy="93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i="0" dirty="0" smtClean="0">
                <a:solidFill>
                  <a:srgbClr val="F5A623"/>
                </a:solidFill>
              </a:rPr>
              <a:t>TA'RIF:</a:t>
            </a:r>
          </a:p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Agar quyidagi limit mavjud va chekli bo'lsa:</a:t>
            </a:r>
          </a:p>
          <a:p>
            <a:pPr algn="ctr"/>
            <a:r>
              <a:rPr lang="uz-UZ" sz="1700" b="1" i="0" dirty="0" smtClean="0">
                <a:solidFill>
                  <a:srgbClr val="FFFFFF"/>
                </a:solidFill>
              </a:rPr>
              <a:t>lim  [ f(x₀+Δx, y₀) − f(x₀, y₀) ] / Δx  =  f'x(x₀, y₀)</a:t>
            </a:r>
          </a:p>
        </p:txBody>
      </p:sp>
      <p:sp>
        <p:nvSpPr>
          <p:cNvPr id="108" name="s108"/>
          <p:cNvSpPr/>
          <p:nvPr/>
        </p:nvSpPr>
        <p:spPr>
          <a:xfrm>
            <a:off x="288000" y="2808000"/>
            <a:ext cx="5652000" cy="792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glow rad="50000">
              <a:srgbClr val="4361EE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9" name="s109"/>
          <p:cNvSpPr/>
          <p:nvPr/>
        </p:nvSpPr>
        <p:spPr>
          <a:xfrm>
            <a:off x="288000" y="2808000"/>
            <a:ext cx="28800" cy="792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10" name="t110"/>
          <p:cNvSpPr txBox="1">
            <a:spLocks noGrp="1"/>
          </p:cNvSpPr>
          <p:nvPr/>
        </p:nvSpPr>
        <p:spPr>
          <a:xfrm>
            <a:off x="396000" y="2880000"/>
            <a:ext cx="5472000" cy="64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100" b="0" i="1" dirty="0" smtClean="0">
                <a:solidFill>
                  <a:srgbClr val="F5A623"/>
                </a:solidFill>
              </a:rPr>
              <a:t>Belgilanish usullari</a:t>
            </a:r>
          </a:p>
          <a:p>
            <a:pPr algn="ctr"/>
            <a:r>
              <a:rPr lang="uz-UZ" sz="1900" b="1" i="0" dirty="0" smtClean="0">
                <a:solidFill>
                  <a:srgbClr val="FFFFFF"/>
                </a:solidFill>
              </a:rPr>
              <a:t>∂f/∂x  =  f'x  =  fx  =  ∂z/∂x</a:t>
            </a:r>
          </a:p>
        </p:txBody>
      </p:sp>
      <p:sp>
        <p:nvSpPr>
          <p:cNvPr id="111" name="s111"/>
          <p:cNvSpPr/>
          <p:nvPr/>
        </p:nvSpPr>
        <p:spPr>
          <a:xfrm>
            <a:off x="6228000" y="2808000"/>
            <a:ext cx="5652000" cy="792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2" name="t112"/>
          <p:cNvSpPr txBox="1">
            <a:spLocks noGrp="1"/>
          </p:cNvSpPr>
          <p:nvPr/>
        </p:nvSpPr>
        <p:spPr>
          <a:xfrm>
            <a:off x="6408000" y="2844000"/>
            <a:ext cx="5328000" cy="72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dirty="0">
                <a:solidFill>
                  <a:srgbClr val="E94560"/>
                </a:solidFill>
              </a:rPr>
              <a:t>⚡ QOIDA: </a:t>
            </a:r>
            <a:r>
              <a:rPr lang="uz-UZ" sz="1300" b="0" dirty="0">
                <a:solidFill>
                  <a:srgbClr val="FFFFFF"/>
                </a:solidFill>
              </a:rPr>
              <a:t>Xususiy hosila olinganda</a:t>
            </a:r>
          </a:p>
          <a:p>
            <a:pPr algn="left"/>
            <a:r>
              <a:rPr lang="uz-UZ" sz="1400" b="1" i="0" dirty="0" smtClean="0">
                <a:solidFill>
                  <a:srgbClr val="F5A623"/>
                </a:solidFill>
              </a:rPr>
              <a:t>boshqa o'zgaruvchilar O'ZGARMAS qilinadi!</a:t>
            </a:r>
          </a:p>
        </p:txBody>
      </p:sp>
      <p:sp>
        <p:nvSpPr>
          <p:cNvPr id="113" name="s113"/>
          <p:cNvSpPr/>
          <p:nvPr/>
        </p:nvSpPr>
        <p:spPr>
          <a:xfrm>
            <a:off x="288000" y="3780000"/>
            <a:ext cx="11627999" cy="1728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glow rad="50000">
              <a:srgbClr val="06D6A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4" name="s114"/>
          <p:cNvSpPr/>
          <p:nvPr/>
        </p:nvSpPr>
        <p:spPr>
          <a:xfrm>
            <a:off x="288000" y="3780000"/>
            <a:ext cx="108000" cy="17280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15" name="t115"/>
          <p:cNvSpPr txBox="1">
            <a:spLocks noGrp="1"/>
          </p:cNvSpPr>
          <p:nvPr/>
        </p:nvSpPr>
        <p:spPr>
          <a:xfrm>
            <a:off x="540000" y="3851999"/>
            <a:ext cx="11160000" cy="158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600" b="1" i="0" dirty="0" smtClean="0">
                <a:solidFill>
                  <a:srgbClr val="F5A623"/>
                </a:solidFill>
              </a:rPr>
              <a:t>MISOL:  z = x²y³ + sin(xy)</a:t>
            </a:r>
          </a:p>
          <a:p>
            <a:endParaRPr lang="uz-UZ" dirty="0"/>
          </a:p>
          <a:p>
            <a:pPr algn="left"/>
            <a:r>
              <a:rPr lang="uz-UZ" sz="1700" b="1" dirty="0">
                <a:solidFill>
                  <a:srgbClr val="06D6A0"/>
                </a:solidFill>
              </a:rPr>
              <a:t>∂z/∂x  =  </a:t>
            </a:r>
            <a:r>
              <a:rPr lang="uz-UZ" sz="1700" b="0" dirty="0">
                <a:solidFill>
                  <a:srgbClr val="FFFFFF"/>
                </a:solidFill>
              </a:rPr>
              <a:t>2xy³ + y·cos(xy)</a:t>
            </a:r>
            <a:r>
              <a:rPr lang="uz-UZ" sz="1300" b="0" dirty="0">
                <a:solidFill>
                  <a:srgbClr val="A0A0B0"/>
                </a:solidFill>
              </a:rPr>
              <a:t>         (y – o'zgarmas)</a:t>
            </a:r>
          </a:p>
          <a:p>
            <a:endParaRPr lang="uz-UZ" dirty="0"/>
          </a:p>
          <a:p>
            <a:pPr algn="left"/>
            <a:r>
              <a:rPr lang="uz-UZ" sz="1700" b="1" dirty="0">
                <a:solidFill>
                  <a:srgbClr val="06D6A0"/>
                </a:solidFill>
              </a:rPr>
              <a:t>∂z/∂y  =  </a:t>
            </a:r>
            <a:r>
              <a:rPr lang="uz-UZ" sz="1700" b="0" dirty="0">
                <a:solidFill>
                  <a:srgbClr val="FFFFFF"/>
                </a:solidFill>
              </a:rPr>
              <a:t>3x²y² + x·cos(xy)</a:t>
            </a:r>
            <a:r>
              <a:rPr lang="uz-UZ" sz="1300" b="0" dirty="0">
                <a:solidFill>
                  <a:srgbClr val="A0A0B0"/>
                </a:solidFill>
              </a:rPr>
              <a:t>         (x – o'zgarmas)</a:t>
            </a:r>
          </a:p>
        </p:txBody>
      </p:sp>
      <p:sp>
        <p:nvSpPr>
          <p:cNvPr id="116" name="t116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5 / 15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1.2. DIFFERENSIALLANUVCHILIK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Differentiability Conditions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1152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07" name="t107"/>
          <p:cNvSpPr txBox="1">
            <a:spLocks noGrp="1"/>
          </p:cNvSpPr>
          <p:nvPr/>
        </p:nvSpPr>
        <p:spPr>
          <a:xfrm>
            <a:off x="540000" y="1620000"/>
            <a:ext cx="11160000" cy="1007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i="0" dirty="0" smtClean="0">
                <a:solidFill>
                  <a:srgbClr val="F5A623"/>
                </a:solidFill>
              </a:rPr>
              <a:t>TA'RIF: f(x,y) funksiya M₀ nuqtada differensiallanuvchi, agar:</a:t>
            </a:r>
          </a:p>
          <a:p>
            <a:pPr algn="ctr"/>
            <a:r>
              <a:rPr lang="uz-UZ" sz="1800" b="1" i="0" dirty="0" smtClean="0">
                <a:solidFill>
                  <a:srgbClr val="FFFFFF"/>
                </a:solidFill>
              </a:rPr>
              <a:t>Δf  =  A·Δx  +  B·Δy  +  o(ρ)     bu yerda  ρ → 0  da  o(ρ)/ρ → 0</a:t>
            </a:r>
          </a:p>
        </p:txBody>
      </p:sp>
      <p:sp>
        <p:nvSpPr>
          <p:cNvPr id="108" name="s108"/>
          <p:cNvSpPr/>
          <p:nvPr/>
        </p:nvSpPr>
        <p:spPr>
          <a:xfrm>
            <a:off x="288000" y="2880000"/>
            <a:ext cx="5652000" cy="1980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06D6A0"/>
            </a:solidFill>
          </a:ln>
          <a:effectLst>
            <a:glow rad="50000">
              <a:srgbClr val="06D6A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9" name="s109"/>
          <p:cNvSpPr/>
          <p:nvPr/>
        </p:nvSpPr>
        <p:spPr>
          <a:xfrm>
            <a:off x="288000" y="2880000"/>
            <a:ext cx="1620000" cy="540000"/>
          </a:xfrm>
          <a:prstGeom prst="roundRect">
            <a:avLst>
              <a:gd name="adj" fmla="val 15000"/>
            </a:avLst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10" name="t110"/>
          <p:cNvSpPr txBox="1">
            <a:spLocks noGrp="1"/>
          </p:cNvSpPr>
          <p:nvPr/>
        </p:nvSpPr>
        <p:spPr>
          <a:xfrm>
            <a:off x="360000" y="2916000"/>
            <a:ext cx="144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100" b="1" i="0" dirty="0" smtClean="0">
                <a:solidFill>
                  <a:srgbClr val="FFFFFF"/>
                </a:solidFill>
              </a:rPr>
              <a:t>ZARURIY
SHART</a:t>
            </a:r>
          </a:p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360000" y="3491999"/>
            <a:ext cx="5220000" cy="126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06D6A0"/>
                </a:solidFill>
              </a:rPr>
              <a:t>Differensiallanuvchi</a:t>
            </a:r>
          </a:p>
          <a:p>
            <a:pPr algn="ctr"/>
            <a:r>
              <a:rPr lang="uz-UZ" sz="2000" b="0" i="0" dirty="0" smtClean="0">
                <a:solidFill>
                  <a:srgbClr val="06D6A0"/>
                </a:solidFill>
              </a:rPr>
              <a:t>⇓</a:t>
            </a:r>
          </a:p>
          <a:p>
            <a:pPr algn="left"/>
            <a:r>
              <a:rPr lang="uz-UZ" sz="1400" b="1" i="0" dirty="0" smtClean="0">
                <a:solidFill>
                  <a:srgbClr val="FFFFFF"/>
                </a:solidFill>
              </a:rPr>
              <a:t>UZLUKSIZ bo'ladi</a:t>
            </a:r>
          </a:p>
        </p:txBody>
      </p:sp>
      <p:sp>
        <p:nvSpPr>
          <p:cNvPr id="112" name="s112"/>
          <p:cNvSpPr/>
          <p:nvPr/>
        </p:nvSpPr>
        <p:spPr>
          <a:xfrm>
            <a:off x="6228000" y="2880000"/>
            <a:ext cx="5652000" cy="1980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F5A623"/>
            </a:solidFill>
          </a:ln>
          <a:effectLst>
            <a:glow rad="50000">
              <a:srgbClr val="F5A623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3" name="s113"/>
          <p:cNvSpPr/>
          <p:nvPr/>
        </p:nvSpPr>
        <p:spPr>
          <a:xfrm>
            <a:off x="6228000" y="2880000"/>
            <a:ext cx="1620000" cy="5400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14" name="t114"/>
          <p:cNvSpPr txBox="1">
            <a:spLocks noGrp="1"/>
          </p:cNvSpPr>
          <p:nvPr/>
        </p:nvSpPr>
        <p:spPr>
          <a:xfrm>
            <a:off x="6300000" y="2916000"/>
            <a:ext cx="144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100" b="1" i="0" dirty="0" smtClean="0">
                <a:solidFill>
                  <a:srgbClr val="FFFFFF"/>
                </a:solidFill>
              </a:rPr>
              <a:t>ETARLI
SHART</a:t>
            </a:r>
          </a:p>
        </p:txBody>
      </p:sp>
      <p:sp>
        <p:nvSpPr>
          <p:cNvPr id="115" name="t115"/>
          <p:cNvSpPr txBox="1">
            <a:spLocks noGrp="1"/>
          </p:cNvSpPr>
          <p:nvPr/>
        </p:nvSpPr>
        <p:spPr>
          <a:xfrm>
            <a:off x="6480000" y="3491999"/>
            <a:ext cx="5220000" cy="126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i="0" dirty="0" smtClean="0">
                <a:solidFill>
                  <a:srgbClr val="F5A623"/>
                </a:solidFill>
              </a:rPr>
              <a:t>Xususiy hosilalar mavjud</a:t>
            </a:r>
          </a:p>
          <a:p>
            <a:pPr algn="left"/>
            <a:r>
              <a:rPr lang="uz-UZ" sz="1300" b="1" i="0" dirty="0" smtClean="0">
                <a:solidFill>
                  <a:srgbClr val="F5A623"/>
                </a:solidFill>
              </a:rPr>
              <a:t>va UZLUKSIZ bo'lsa</a:t>
            </a:r>
          </a:p>
          <a:p>
            <a:pPr algn="ctr"/>
            <a:r>
              <a:rPr lang="uz-UZ" sz="2000" b="0" i="0" dirty="0" smtClean="0">
                <a:solidFill>
                  <a:srgbClr val="F5A623"/>
                </a:solidFill>
              </a:rPr>
              <a:t>⇓</a:t>
            </a:r>
          </a:p>
          <a:p>
            <a:pPr algn="left"/>
            <a:r>
              <a:rPr lang="uz-UZ" sz="1400" b="1" i="0" dirty="0" smtClean="0">
                <a:solidFill>
                  <a:srgbClr val="FFFFFF"/>
                </a:solidFill>
              </a:rPr>
              <a:t>Differensiallanuvchi!</a:t>
            </a:r>
          </a:p>
        </p:txBody>
      </p:sp>
      <p:sp>
        <p:nvSpPr>
          <p:cNvPr id="116" name="s116"/>
          <p:cNvSpPr/>
          <p:nvPr/>
        </p:nvSpPr>
        <p:spPr>
          <a:xfrm>
            <a:off x="288000" y="5040000"/>
            <a:ext cx="11627999" cy="1007999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7" name="t117"/>
          <p:cNvSpPr txBox="1">
            <a:spLocks noGrp="1"/>
          </p:cNvSpPr>
          <p:nvPr/>
        </p:nvSpPr>
        <p:spPr>
          <a:xfrm>
            <a:off x="540000" y="5112000"/>
            <a:ext cx="11160000" cy="86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dirty="0">
                <a:solidFill>
                  <a:srgbClr val="E94560"/>
                </a:solidFill>
              </a:rPr>
              <a:t>⚠ MUHIM FARQ: </a:t>
            </a:r>
            <a:r>
              <a:rPr lang="uz-UZ" sz="1300" b="0" dirty="0">
                <a:solidFill>
                  <a:srgbClr val="E0E0E0"/>
                </a:solidFill>
              </a:rPr>
              <a:t>Bir o'zgaruvchili: hosila ⇔ differensiallanuvchi</a:t>
            </a:r>
          </a:p>
          <a:p>
            <a:pPr algn="left"/>
            <a:r>
              <a:rPr lang="uz-UZ" sz="1400" b="1" i="0" dirty="0" smtClean="0">
                <a:solidFill>
                  <a:srgbClr val="F5A623"/>
                </a:solidFill>
              </a:rPr>
              <a:t>Ko'p o'zgaruvchili: xususiy hosilalar mavjud  ⇏  differensiallanuvchi!</a:t>
            </a:r>
          </a:p>
        </p:txBody>
      </p:sp>
      <p:sp>
        <p:nvSpPr>
          <p:cNvPr id="118" name="t118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6 / 15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1.3. TO'LIQ DIFFERENSIAL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Total Differential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1007999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glow rad="50000">
              <a:srgbClr val="4361EE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48000"/>
            <a:ext cx="28800" cy="1007999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396000" y="1620000"/>
            <a:ext cx="11447999" cy="86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100" b="0" i="1" dirty="0" smtClean="0">
                <a:solidFill>
                  <a:srgbClr val="F5A623"/>
                </a:solidFill>
              </a:rPr>
              <a:t>TO'LIQ DIFFERENSIAL (asosiy formula)</a:t>
            </a:r>
          </a:p>
          <a:p>
            <a:pPr algn="ctr"/>
            <a:r>
              <a:rPr lang="uz-UZ" sz="1900" b="1" i="0" dirty="0" smtClean="0">
                <a:solidFill>
                  <a:srgbClr val="FFFFFF"/>
                </a:solidFill>
              </a:rPr>
              <a:t>df  =  ∂f/∂x · dx  +  ∂f/∂y · dy  =  f'x·dx + f'y·dy</a:t>
            </a:r>
          </a:p>
        </p:txBody>
      </p:sp>
      <p:sp>
        <p:nvSpPr>
          <p:cNvPr id="109" name="s109"/>
          <p:cNvSpPr/>
          <p:nvPr/>
        </p:nvSpPr>
        <p:spPr>
          <a:xfrm>
            <a:off x="288000" y="2772000"/>
            <a:ext cx="5652000" cy="18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0" name="s110"/>
          <p:cNvSpPr/>
          <p:nvPr/>
        </p:nvSpPr>
        <p:spPr>
          <a:xfrm>
            <a:off x="288000" y="2772000"/>
            <a:ext cx="108000" cy="1800000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540000" y="2844000"/>
            <a:ext cx="5220000" cy="1655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5A623"/>
                </a:solidFill>
              </a:rPr>
              <a:t>GEOMETRIK MA'NO</a:t>
            </a:r>
          </a:p>
          <a:p>
            <a:endParaRPr lang="uz-UZ" dirty="0"/>
          </a:p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df – z=f(x,y) sirtga</a:t>
            </a:r>
          </a:p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M₀ nuqtasida o'tkazilgan</a:t>
            </a:r>
          </a:p>
          <a:p>
            <a:pPr algn="left"/>
            <a:r>
              <a:rPr lang="uz-UZ" sz="1500" b="1" i="0" dirty="0" smtClean="0">
                <a:solidFill>
                  <a:srgbClr val="4361EE"/>
                </a:solidFill>
              </a:rPr>
              <a:t>URINMA TEKISLIK</a:t>
            </a:r>
          </a:p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aplikatasining orttirmasi</a:t>
            </a:r>
          </a:p>
        </p:txBody>
      </p:sp>
      <p:sp>
        <p:nvSpPr>
          <p:cNvPr id="112" name="s112"/>
          <p:cNvSpPr/>
          <p:nvPr/>
        </p:nvSpPr>
        <p:spPr>
          <a:xfrm>
            <a:off x="6228000" y="2772000"/>
            <a:ext cx="5652000" cy="18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3" name="s113"/>
          <p:cNvSpPr/>
          <p:nvPr/>
        </p:nvSpPr>
        <p:spPr>
          <a:xfrm>
            <a:off x="6228000" y="2772000"/>
            <a:ext cx="108000" cy="18000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14" name="t114"/>
          <p:cNvSpPr txBox="1">
            <a:spLocks noGrp="1"/>
          </p:cNvSpPr>
          <p:nvPr/>
        </p:nvSpPr>
        <p:spPr>
          <a:xfrm>
            <a:off x="6480000" y="2844000"/>
            <a:ext cx="5220000" cy="1655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i="0" dirty="0" smtClean="0">
                <a:solidFill>
                  <a:srgbClr val="F5A623"/>
                </a:solidFill>
              </a:rPr>
              <a:t>MISOL: z = x³ + xy²  da  M(1,2)</a:t>
            </a:r>
          </a:p>
          <a:p>
            <a:endParaRPr lang="uz-UZ" dirty="0"/>
          </a:p>
          <a:p>
            <a:pPr algn="left"/>
            <a:r>
              <a:rPr lang="uz-UZ" sz="1400" b="0" dirty="0">
                <a:solidFill>
                  <a:srgbClr val="E0E0E0"/>
                </a:solidFill>
              </a:rPr>
              <a:t>f'x = 3x²+y² = </a:t>
            </a:r>
            <a:r>
              <a:rPr lang="uz-UZ" sz="1600" b="1" dirty="0">
                <a:solidFill>
                  <a:srgbClr val="06D6A0"/>
                </a:solidFill>
              </a:rPr>
              <a:t>7</a:t>
            </a:r>
          </a:p>
          <a:p>
            <a:pPr algn="left"/>
            <a:r>
              <a:rPr lang="uz-UZ" sz="1400" b="0" dirty="0">
                <a:solidFill>
                  <a:srgbClr val="E0E0E0"/>
                </a:solidFill>
              </a:rPr>
              <a:t>f'y = 2xy = </a:t>
            </a:r>
            <a:r>
              <a:rPr lang="uz-UZ" sz="1600" b="1" dirty="0">
                <a:solidFill>
                  <a:srgbClr val="06D6A0"/>
                </a:solidFill>
              </a:rPr>
              <a:t>4</a:t>
            </a:r>
          </a:p>
          <a:p>
            <a:endParaRPr lang="uz-UZ" dirty="0"/>
          </a:p>
          <a:p>
            <a:pPr algn="left"/>
            <a:r>
              <a:rPr lang="uz-UZ" sz="1700" b="1" i="0" dirty="0" smtClean="0">
                <a:solidFill>
                  <a:srgbClr val="FFFFFF"/>
                </a:solidFill>
              </a:rPr>
              <a:t>dz = 7dx + 4dy</a:t>
            </a:r>
          </a:p>
        </p:txBody>
      </p:sp>
      <p:sp>
        <p:nvSpPr>
          <p:cNvPr id="115" name="s115"/>
          <p:cNvSpPr/>
          <p:nvPr/>
        </p:nvSpPr>
        <p:spPr>
          <a:xfrm>
            <a:off x="288000" y="4788000"/>
            <a:ext cx="11627999" cy="72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FFD700"/>
            </a:solidFill>
          </a:ln>
          <a:effectLst>
            <a:glow rad="50000">
              <a:srgbClr val="FFD70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6" name="t116"/>
          <p:cNvSpPr txBox="1">
            <a:spLocks noGrp="1"/>
          </p:cNvSpPr>
          <p:nvPr/>
        </p:nvSpPr>
        <p:spPr>
          <a:xfrm>
            <a:off x="540000" y="4860000"/>
            <a:ext cx="1116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dirty="0">
                <a:solidFill>
                  <a:srgbClr val="FFD700"/>
                </a:solidFill>
              </a:rPr>
              <a:t>★ DIFFERENSIAL SHAKL INVARIANTLIGI: </a:t>
            </a:r>
            <a:r>
              <a:rPr lang="uz-UZ" sz="1300" b="0" dirty="0">
                <a:solidFill>
                  <a:srgbClr val="E0E0E0"/>
                </a:solidFill>
              </a:rPr>
              <a:t>murakkab funksiyada ham  df = f'x·dx + f'y·dy  ko'rinishi saqlanadi!</a:t>
            </a:r>
          </a:p>
        </p:txBody>
      </p:sp>
      <p:sp>
        <p:nvSpPr>
          <p:cNvPr id="117" name="t117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7 / 15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1.4. YUQORI TARTIBLI HOSILALAR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Higher-Order Derivatives &amp; Schwarz Theorem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126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07" name="t107"/>
          <p:cNvSpPr txBox="1">
            <a:spLocks noGrp="1"/>
          </p:cNvSpPr>
          <p:nvPr/>
        </p:nvSpPr>
        <p:spPr>
          <a:xfrm>
            <a:off x="540000" y="1620000"/>
            <a:ext cx="11160000" cy="111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5A623"/>
                </a:solidFill>
              </a:rPr>
              <a:t>Ikkinchi tartibli xususiy hosilalar:</a:t>
            </a:r>
          </a:p>
          <a:p>
            <a:pPr algn="left"/>
            <a:r>
              <a:rPr lang="uz-UZ" sz="1500" b="1" dirty="0">
                <a:solidFill>
                  <a:srgbClr val="FFFFFF"/>
                </a:solidFill>
              </a:rPr>
              <a:t>f''xx = ∂²f/∂x²</a:t>
            </a:r>
            <a:r>
              <a:rPr lang="uz-UZ" sz="1500" b="1" dirty="0">
                <a:solidFill>
                  <a:srgbClr val="FFFFFF"/>
                </a:solidFill>
              </a:rPr>
              <a:t>       f''yy = ∂²f/∂y²</a:t>
            </a:r>
            <a:r>
              <a:rPr lang="uz-UZ" sz="1500" b="1" dirty="0">
                <a:solidFill>
                  <a:srgbClr val="F5A623"/>
                </a:solidFill>
              </a:rPr>
              <a:t>       f''xy = ∂²f/∂x∂y</a:t>
            </a:r>
            <a:r>
              <a:rPr lang="uz-UZ" sz="1500" b="1" dirty="0">
                <a:solidFill>
                  <a:srgbClr val="F5A623"/>
                </a:solidFill>
              </a:rPr>
              <a:t>       f''yx = ∂²f/∂y∂x</a:t>
            </a:r>
          </a:p>
        </p:txBody>
      </p:sp>
      <p:sp>
        <p:nvSpPr>
          <p:cNvPr id="108" name="s108"/>
          <p:cNvSpPr/>
          <p:nvPr/>
        </p:nvSpPr>
        <p:spPr>
          <a:xfrm>
            <a:off x="288000" y="3024000"/>
            <a:ext cx="11627999" cy="1260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FFD700"/>
            </a:solidFill>
          </a:ln>
          <a:effectLst>
            <a:glow rad="50000">
              <a:srgbClr val="FFD70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9" name="s109"/>
          <p:cNvSpPr/>
          <p:nvPr/>
        </p:nvSpPr>
        <p:spPr>
          <a:xfrm>
            <a:off x="288000" y="3024000"/>
            <a:ext cx="2700000" cy="468000"/>
          </a:xfrm>
          <a:prstGeom prst="roundRect">
            <a:avLst>
              <a:gd name="adj" fmla="val 15000"/>
            </a:avLst>
          </a:prstGeom>
          <a:solidFill>
            <a:srgbClr val="FFD700"/>
          </a:solidFill>
          <a:ln>
            <a:noFill/>
          </a:ln>
        </p:spPr>
        <p:txBody>
          <a:bodyPr/>
          <a:lstStyle/>
        </p:txBody>
      </p:sp>
      <p:sp>
        <p:nvSpPr>
          <p:cNvPr id="110" name="t110"/>
          <p:cNvSpPr txBox="1">
            <a:spLocks noGrp="1"/>
          </p:cNvSpPr>
          <p:nvPr/>
        </p:nvSpPr>
        <p:spPr>
          <a:xfrm>
            <a:off x="360000" y="3060000"/>
            <a:ext cx="252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200" b="1" i="0" dirty="0" smtClean="0">
                <a:solidFill>
                  <a:srgbClr val="0F0E17"/>
                </a:solidFill>
              </a:rPr>
              <a:t>SHVARTS TEOREMASI</a:t>
            </a:r>
          </a:p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540000" y="3600000"/>
            <a:ext cx="1116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Agar f''xy va f''yx aralash hosilalar uzluksiz bo'lsa:</a:t>
            </a:r>
          </a:p>
          <a:p>
            <a:pPr algn="ctr"/>
            <a:r>
              <a:rPr lang="uz-UZ" sz="1900" b="1" i="0" dirty="0" smtClean="0">
                <a:solidFill>
                  <a:srgbClr val="FFD700"/>
                </a:solidFill>
              </a:rPr>
              <a:t>f''xy  =  f''yx       (tartib muhim emas!)</a:t>
            </a:r>
          </a:p>
        </p:txBody>
      </p:sp>
      <p:sp>
        <p:nvSpPr>
          <p:cNvPr id="112" name="s112"/>
          <p:cNvSpPr/>
          <p:nvPr/>
        </p:nvSpPr>
        <p:spPr>
          <a:xfrm>
            <a:off x="288000" y="4500000"/>
            <a:ext cx="11627999" cy="1548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glow rad="50000">
              <a:srgbClr val="06D6A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3" name="s113"/>
          <p:cNvSpPr/>
          <p:nvPr/>
        </p:nvSpPr>
        <p:spPr>
          <a:xfrm>
            <a:off x="288000" y="4500000"/>
            <a:ext cx="108000" cy="15480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14" name="t114"/>
          <p:cNvSpPr txBox="1">
            <a:spLocks noGrp="1"/>
          </p:cNvSpPr>
          <p:nvPr/>
        </p:nvSpPr>
        <p:spPr>
          <a:xfrm>
            <a:off x="540000" y="4572000"/>
            <a:ext cx="11160000" cy="140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5A623"/>
                </a:solidFill>
              </a:rPr>
              <a:t>MISOL:  z = x²y³</a:t>
            </a:r>
          </a:p>
          <a:p>
            <a:pPr algn="left"/>
            <a:r>
              <a:rPr lang="uz-UZ" sz="1400" b="0" dirty="0">
                <a:solidFill>
                  <a:srgbClr val="E0E0E0"/>
                </a:solidFill>
              </a:rPr>
              <a:t>f'x = 2xy³ </a:t>
            </a:r>
            <a:r>
              <a:rPr lang="uz-UZ" sz="1400" b="1" dirty="0">
                <a:solidFill>
                  <a:srgbClr val="06D6A0"/>
                </a:solidFill>
              </a:rPr>
              <a:t>➡ f''xy = 6xy²</a:t>
            </a:r>
          </a:p>
          <a:p>
            <a:pPr algn="left"/>
            <a:r>
              <a:rPr lang="uz-UZ" sz="1400" b="0" dirty="0">
                <a:solidFill>
                  <a:srgbClr val="E0E0E0"/>
                </a:solidFill>
              </a:rPr>
              <a:t>f'y = 3x²y² </a:t>
            </a:r>
            <a:r>
              <a:rPr lang="uz-UZ" sz="1400" b="1" dirty="0">
                <a:solidFill>
                  <a:srgbClr val="06D6A0"/>
                </a:solidFill>
              </a:rPr>
              <a:t>➡ f''yx = 6xy²</a:t>
            </a:r>
          </a:p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f''xy = f''yx = 6xy²    ✓  Shvarts teoremasi tasdiqlandi!</a:t>
            </a:r>
          </a:p>
        </p:txBody>
      </p:sp>
      <p:sp>
        <p:nvSpPr>
          <p:cNvPr id="115" name="t115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8 / 15</a:t>
            </a: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2.1. TAQRIBIY HISOBLASHGA TATBIQI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Approximate Calculations via Total Differential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90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glow rad="50000">
              <a:srgbClr val="4361EE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48000"/>
            <a:ext cx="28800" cy="900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396000" y="1620000"/>
            <a:ext cx="11447999" cy="75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100" b="0" i="1" dirty="0" smtClean="0">
                <a:solidFill>
                  <a:srgbClr val="F5A623"/>
                </a:solidFill>
              </a:rPr>
              <a:t>Asosiy taqribiy formula  (Δf ≈ df)</a:t>
            </a:r>
          </a:p>
          <a:p>
            <a:pPr algn="ctr"/>
            <a:r>
              <a:rPr lang="uz-UZ" sz="1900" b="1" i="0" dirty="0" smtClean="0">
                <a:solidFill>
                  <a:srgbClr val="FFFFFF"/>
                </a:solidFill>
              </a:rPr>
              <a:t>f(x,y) ≈ f(x₀,y₀) + f'x(x₀,y₀)·(x−x₀) + f'y(x₀,y₀)·(y−y₀)</a:t>
            </a:r>
          </a:p>
        </p:txBody>
      </p:sp>
      <p:sp>
        <p:nvSpPr>
          <p:cNvPr id="109" name="s109"/>
          <p:cNvSpPr/>
          <p:nvPr/>
        </p:nvSpPr>
        <p:spPr>
          <a:xfrm>
            <a:off x="288000" y="2664000"/>
            <a:ext cx="11627999" cy="702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E9456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0" name="s110"/>
          <p:cNvSpPr/>
          <p:nvPr/>
        </p:nvSpPr>
        <p:spPr>
          <a:xfrm>
            <a:off x="288000" y="2664000"/>
            <a:ext cx="792000" cy="7020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alpha val="30000"/>
          <a:ln>
            <a:noFill/>
          </a:ln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360000" y="2754000"/>
            <a:ext cx="7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800" b="1" i="0" dirty="0" smtClean="0">
                <a:solidFill>
                  <a:srgbClr val="E94560"/>
                </a:solidFill>
              </a:rPr>
              <a:t>1°</a:t>
            </a:r>
          </a:p>
        </p:txBody>
      </p:sp>
      <p:sp>
        <p:nvSpPr>
          <p:cNvPr id="112" name="t112"/>
          <p:cNvSpPr txBox="1">
            <a:spLocks noGrp="1"/>
          </p:cNvSpPr>
          <p:nvPr/>
        </p:nvSpPr>
        <p:spPr>
          <a:xfrm>
            <a:off x="1188000" y="2718000"/>
            <a:ext cx="36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FFFFF"/>
                </a:solidFill>
              </a:rPr>
              <a:t>Funksiyani tanlash</a:t>
            </a:r>
          </a:p>
        </p:txBody>
      </p:sp>
      <p:sp>
        <p:nvSpPr>
          <p:cNvPr id="113" name="t113"/>
          <p:cNvSpPr txBox="1">
            <a:spLocks noGrp="1"/>
          </p:cNvSpPr>
          <p:nvPr/>
        </p:nvSpPr>
        <p:spPr>
          <a:xfrm>
            <a:off x="1188000" y="3024000"/>
            <a:ext cx="1062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A = f(x,y) = arctan(x/y−1)  qilib olinadi</a:t>
            </a:r>
          </a:p>
        </p:txBody>
      </p:sp>
      <p:sp>
        <p:nvSpPr>
          <p:cNvPr id="114" name="s114"/>
          <p:cNvSpPr/>
          <p:nvPr/>
        </p:nvSpPr>
        <p:spPr>
          <a:xfrm>
            <a:off x="288000" y="3420000"/>
            <a:ext cx="11627999" cy="702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5" name="s115"/>
          <p:cNvSpPr/>
          <p:nvPr/>
        </p:nvSpPr>
        <p:spPr>
          <a:xfrm>
            <a:off x="288000" y="3420000"/>
            <a:ext cx="792000" cy="702000"/>
          </a:xfrm>
          <a:prstGeom prst="roundRect">
            <a:avLst>
              <a:gd name="adj" fmla="val 15000"/>
            </a:avLst>
          </a:prstGeom>
          <a:solidFill>
            <a:srgbClr val="4361EE"/>
          </a:solidFill>
          <a:alpha val="30000"/>
          <a:ln>
            <a:noFill/>
          </a:ln>
        </p:spPr>
        <p:txBody>
          <a:bodyPr/>
          <a:lstStyle/>
        </p:txBody>
      </p:sp>
      <p:sp>
        <p:nvSpPr>
          <p:cNvPr id="116" name="t116"/>
          <p:cNvSpPr txBox="1">
            <a:spLocks noGrp="1"/>
          </p:cNvSpPr>
          <p:nvPr/>
        </p:nvSpPr>
        <p:spPr>
          <a:xfrm>
            <a:off x="360000" y="3510000"/>
            <a:ext cx="7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800" b="1" i="0" dirty="0" smtClean="0">
                <a:solidFill>
                  <a:srgbClr val="4361EE"/>
                </a:solidFill>
              </a:rPr>
              <a:t>2°</a:t>
            </a:r>
          </a:p>
        </p:txBody>
      </p:sp>
      <p:sp>
        <p:nvSpPr>
          <p:cNvPr id="117" name="t117"/>
          <p:cNvSpPr txBox="1">
            <a:spLocks noGrp="1"/>
          </p:cNvSpPr>
          <p:nvPr/>
        </p:nvSpPr>
        <p:spPr>
          <a:xfrm>
            <a:off x="1188000" y="3474000"/>
            <a:ext cx="36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FFFFF"/>
                </a:solidFill>
              </a:rPr>
              <a:t>M₀ ni tanlash</a:t>
            </a:r>
          </a:p>
        </p:txBody>
      </p:sp>
      <p:sp>
        <p:nvSpPr>
          <p:cNvPr id="118" name="t118"/>
          <p:cNvSpPr txBox="1">
            <a:spLocks noGrp="1"/>
          </p:cNvSpPr>
          <p:nvPr/>
        </p:nvSpPr>
        <p:spPr>
          <a:xfrm>
            <a:off x="1188000" y="3780000"/>
            <a:ext cx="1062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x₀=2,  y₀=1  qulaylik uchun tanlanadi</a:t>
            </a:r>
          </a:p>
        </p:txBody>
      </p:sp>
      <p:sp>
        <p:nvSpPr>
          <p:cNvPr id="119" name="s119"/>
          <p:cNvSpPr/>
          <p:nvPr/>
        </p:nvSpPr>
        <p:spPr>
          <a:xfrm>
            <a:off x="288000" y="4176000"/>
            <a:ext cx="11627999" cy="702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20" name="s120"/>
          <p:cNvSpPr/>
          <p:nvPr/>
        </p:nvSpPr>
        <p:spPr>
          <a:xfrm>
            <a:off x="288000" y="4176000"/>
            <a:ext cx="792000" cy="702000"/>
          </a:xfrm>
          <a:prstGeom prst="roundRect">
            <a:avLst>
              <a:gd name="adj" fmla="val 15000"/>
            </a:avLst>
          </a:prstGeom>
          <a:solidFill>
            <a:srgbClr val="06D6A0"/>
          </a:solidFill>
          <a:alpha val="30000"/>
          <a:ln>
            <a:noFill/>
          </a:ln>
        </p:spPr>
        <p:txBody>
          <a:bodyPr/>
          <a:lstStyle/>
        </p:txBody>
      </p:sp>
      <p:sp>
        <p:nvSpPr>
          <p:cNvPr id="121" name="t121"/>
          <p:cNvSpPr txBox="1">
            <a:spLocks noGrp="1"/>
          </p:cNvSpPr>
          <p:nvPr/>
        </p:nvSpPr>
        <p:spPr>
          <a:xfrm>
            <a:off x="360000" y="4266000"/>
            <a:ext cx="7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800" b="1" i="0" dirty="0" smtClean="0">
                <a:solidFill>
                  <a:srgbClr val="06D6A0"/>
                </a:solidFill>
              </a:rPr>
              <a:t>3°</a:t>
            </a:r>
          </a:p>
        </p:txBody>
      </p:sp>
      <p:sp>
        <p:nvSpPr>
          <p:cNvPr id="122" name="t122"/>
          <p:cNvSpPr txBox="1">
            <a:spLocks noGrp="1"/>
          </p:cNvSpPr>
          <p:nvPr/>
        </p:nvSpPr>
        <p:spPr>
          <a:xfrm>
            <a:off x="1188000" y="4230000"/>
            <a:ext cx="36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FFFFF"/>
                </a:solidFill>
              </a:rPr>
              <a:t>f(x₀,y₀) hisoblash</a:t>
            </a:r>
          </a:p>
        </p:txBody>
      </p:sp>
      <p:sp>
        <p:nvSpPr>
          <p:cNvPr id="123" name="t123"/>
          <p:cNvSpPr txBox="1">
            <a:spLocks noGrp="1"/>
          </p:cNvSpPr>
          <p:nvPr/>
        </p:nvSpPr>
        <p:spPr>
          <a:xfrm>
            <a:off x="1188000" y="4536000"/>
            <a:ext cx="1062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f(2,1) = arctan(1) = π/4 = 0.785</a:t>
            </a:r>
          </a:p>
        </p:txBody>
      </p:sp>
      <p:sp>
        <p:nvSpPr>
          <p:cNvPr id="124" name="s124"/>
          <p:cNvSpPr/>
          <p:nvPr/>
        </p:nvSpPr>
        <p:spPr>
          <a:xfrm>
            <a:off x="288000" y="4932000"/>
            <a:ext cx="11627999" cy="702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F5A623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25" name="s125"/>
          <p:cNvSpPr/>
          <p:nvPr/>
        </p:nvSpPr>
        <p:spPr>
          <a:xfrm>
            <a:off x="288000" y="4932000"/>
            <a:ext cx="792000" cy="7020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alpha val="30000"/>
          <a:ln>
            <a:noFill/>
          </a:ln>
        </p:spPr>
        <p:txBody>
          <a:bodyPr/>
          <a:lstStyle/>
        </p:txBody>
      </p:sp>
      <p:sp>
        <p:nvSpPr>
          <p:cNvPr id="126" name="t126"/>
          <p:cNvSpPr txBox="1">
            <a:spLocks noGrp="1"/>
          </p:cNvSpPr>
          <p:nvPr/>
        </p:nvSpPr>
        <p:spPr>
          <a:xfrm>
            <a:off x="360000" y="5022000"/>
            <a:ext cx="7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800" b="1" i="0" dirty="0" smtClean="0">
                <a:solidFill>
                  <a:srgbClr val="F5A623"/>
                </a:solidFill>
              </a:rPr>
              <a:t>4°</a:t>
            </a:r>
          </a:p>
        </p:txBody>
      </p:sp>
      <p:sp>
        <p:nvSpPr>
          <p:cNvPr id="127" name="t127"/>
          <p:cNvSpPr txBox="1">
            <a:spLocks noGrp="1"/>
          </p:cNvSpPr>
          <p:nvPr/>
        </p:nvSpPr>
        <p:spPr>
          <a:xfrm>
            <a:off x="1188000" y="4986000"/>
            <a:ext cx="36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FFFFF"/>
                </a:solidFill>
              </a:rPr>
              <a:t>Hosilalar topish</a:t>
            </a:r>
          </a:p>
        </p:txBody>
      </p:sp>
      <p:sp>
        <p:nvSpPr>
          <p:cNvPr id="128" name="t128"/>
          <p:cNvSpPr txBox="1">
            <a:spLocks noGrp="1"/>
          </p:cNvSpPr>
          <p:nvPr/>
        </p:nvSpPr>
        <p:spPr>
          <a:xfrm>
            <a:off x="1188000" y="5292000"/>
            <a:ext cx="1062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f'x(2,1) = 0.5      f'y(2,1) = −1</a:t>
            </a:r>
          </a:p>
        </p:txBody>
      </p:sp>
      <p:sp>
        <p:nvSpPr>
          <p:cNvPr id="129" name="s129"/>
          <p:cNvSpPr/>
          <p:nvPr/>
        </p:nvSpPr>
        <p:spPr>
          <a:xfrm>
            <a:off x="288000" y="5688000"/>
            <a:ext cx="11627999" cy="702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FFD70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30" name="s130"/>
          <p:cNvSpPr/>
          <p:nvPr/>
        </p:nvSpPr>
        <p:spPr>
          <a:xfrm>
            <a:off x="288000" y="5688000"/>
            <a:ext cx="792000" cy="702000"/>
          </a:xfrm>
          <a:prstGeom prst="roundRect">
            <a:avLst>
              <a:gd name="adj" fmla="val 15000"/>
            </a:avLst>
          </a:prstGeom>
          <a:solidFill>
            <a:srgbClr val="FFD700"/>
          </a:solidFill>
          <a:alpha val="30000"/>
          <a:ln>
            <a:noFill/>
          </a:ln>
        </p:spPr>
        <p:txBody>
          <a:bodyPr/>
          <a:lstStyle/>
        </p:txBody>
      </p:sp>
      <p:sp>
        <p:nvSpPr>
          <p:cNvPr id="131" name="t131"/>
          <p:cNvSpPr txBox="1">
            <a:spLocks noGrp="1"/>
          </p:cNvSpPr>
          <p:nvPr/>
        </p:nvSpPr>
        <p:spPr>
          <a:xfrm>
            <a:off x="360000" y="5778000"/>
            <a:ext cx="7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800" b="1" i="0" dirty="0" smtClean="0">
                <a:solidFill>
                  <a:srgbClr val="FFD700"/>
                </a:solidFill>
              </a:rPr>
              <a:t>5°</a:t>
            </a:r>
          </a:p>
        </p:txBody>
      </p:sp>
      <p:sp>
        <p:nvSpPr>
          <p:cNvPr id="132" name="t132"/>
          <p:cNvSpPr txBox="1">
            <a:spLocks noGrp="1"/>
          </p:cNvSpPr>
          <p:nvPr/>
        </p:nvSpPr>
        <p:spPr>
          <a:xfrm>
            <a:off x="1188000" y="5742000"/>
            <a:ext cx="36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FFFFF"/>
                </a:solidFill>
              </a:rPr>
              <a:t>Natija</a:t>
            </a:r>
          </a:p>
        </p:txBody>
      </p:sp>
      <p:sp>
        <p:nvSpPr>
          <p:cNvPr id="133" name="t133"/>
          <p:cNvSpPr txBox="1">
            <a:spLocks noGrp="1"/>
          </p:cNvSpPr>
          <p:nvPr/>
        </p:nvSpPr>
        <p:spPr>
          <a:xfrm>
            <a:off x="1188000" y="6048000"/>
            <a:ext cx="1062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0" i="1" dirty="0" smtClean="0">
                <a:solidFill>
                  <a:srgbClr val="E0E0E0"/>
                </a:solidFill>
              </a:rPr>
              <a:t>arctan(1.98/1.03−1) ≈ 0.785 + 0.5·(−0.02) + (−1)·(0.03) = 0.745</a:t>
            </a:r>
          </a:p>
        </p:txBody>
      </p:sp>
      <p:sp>
        <p:nvSpPr>
          <p:cNvPr id="134" name="t134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9 / 15</a:t>
            </a: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2.2. YO'NALISH BO'YICHA HOSILA VA GRADIENT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Directional Derivative &amp; Gradient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90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glow rad="50000">
              <a:srgbClr val="4361EE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48000"/>
            <a:ext cx="28800" cy="900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396000" y="1620000"/>
            <a:ext cx="11447999" cy="75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100" b="0" i="1" dirty="0" smtClean="0">
                <a:solidFill>
                  <a:srgbClr val="F5A623"/>
                </a:solidFill>
              </a:rPr>
              <a:t>Yo'nalish bo'yicha hosila (cosα, cosβ – yo'naltiruvchi kosinuslar)</a:t>
            </a:r>
          </a:p>
          <a:p>
            <a:pPr algn="ctr"/>
            <a:r>
              <a:rPr lang="uz-UZ" sz="1900" b="1" i="0" dirty="0" smtClean="0">
                <a:solidFill>
                  <a:srgbClr val="FFFFFF"/>
                </a:solidFill>
              </a:rPr>
              <a:t>∂f/∂ℓ  =  f'x·cosα  +  f'y·cosβ</a:t>
            </a:r>
          </a:p>
        </p:txBody>
      </p:sp>
      <p:sp>
        <p:nvSpPr>
          <p:cNvPr id="109" name="s109"/>
          <p:cNvSpPr/>
          <p:nvPr/>
        </p:nvSpPr>
        <p:spPr>
          <a:xfrm>
            <a:off x="288000" y="2664000"/>
            <a:ext cx="5652000" cy="2160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0" name="s110"/>
          <p:cNvSpPr/>
          <p:nvPr/>
        </p:nvSpPr>
        <p:spPr>
          <a:xfrm>
            <a:off x="288000" y="2664000"/>
            <a:ext cx="108000" cy="2160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540000" y="2736000"/>
            <a:ext cx="5220000" cy="2015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2000" b="1" i="0" dirty="0" smtClean="0">
                <a:solidFill>
                  <a:srgbClr val="E94560"/>
                </a:solidFill>
              </a:rPr>
              <a:t>GRADIENT</a:t>
            </a:r>
          </a:p>
          <a:p>
            <a:pPr algn="ctr"/>
            <a:r>
              <a:rPr lang="uz-UZ" sz="1900" b="1" i="0" dirty="0" smtClean="0">
                <a:solidFill>
                  <a:srgbClr val="FFFFFF"/>
                </a:solidFill>
              </a:rPr>
              <a:t>grad f = ∇f = (f'x, f'y)</a:t>
            </a:r>
          </a:p>
          <a:p>
            <a:endParaRPr lang="uz-UZ" dirty="0"/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➡ </a:t>
            </a:r>
            <a:r>
              <a:rPr lang="uz-UZ" sz="1300" b="0" dirty="0">
                <a:solidFill>
                  <a:srgbClr val="E0E0E0"/>
                </a:solidFill>
              </a:rPr>
              <a:t>Eng tez o'sish yo'nalishi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➡ </a:t>
            </a:r>
            <a:r>
              <a:rPr lang="uz-UZ" sz="1300" b="0" dirty="0">
                <a:solidFill>
                  <a:srgbClr val="E0E0E0"/>
                </a:solidFill>
              </a:rPr>
              <a:t>Sath egri chiziqlariga perpendikulyar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➡ </a:t>
            </a:r>
            <a:r>
              <a:rPr lang="uz-UZ" sz="1300" b="0" dirty="0">
                <a:solidFill>
                  <a:srgbClr val="E0E0E0"/>
                </a:solidFill>
              </a:rPr>
              <a:t>|grad f| – eng katta o'zgarish tezligi</a:t>
            </a:r>
          </a:p>
        </p:txBody>
      </p:sp>
      <p:sp>
        <p:nvSpPr>
          <p:cNvPr id="112" name="s112"/>
          <p:cNvSpPr/>
          <p:nvPr/>
        </p:nvSpPr>
        <p:spPr>
          <a:xfrm>
            <a:off x="6228000" y="2664000"/>
            <a:ext cx="5652000" cy="2160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F5A623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3" name="s113"/>
          <p:cNvSpPr/>
          <p:nvPr/>
        </p:nvSpPr>
        <p:spPr>
          <a:xfrm>
            <a:off x="6228000" y="2664000"/>
            <a:ext cx="108000" cy="2160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14" name="t114"/>
          <p:cNvSpPr txBox="1">
            <a:spLocks noGrp="1"/>
          </p:cNvSpPr>
          <p:nvPr/>
        </p:nvSpPr>
        <p:spPr>
          <a:xfrm>
            <a:off x="6480000" y="2736000"/>
            <a:ext cx="5220000" cy="2015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600" b="1" i="0" dirty="0" smtClean="0">
                <a:solidFill>
                  <a:srgbClr val="F5A623"/>
                </a:solidFill>
              </a:rPr>
              <a:t>AMALIY MA'NO</a:t>
            </a:r>
          </a:p>
          <a:p>
            <a:endParaRPr lang="uz-UZ" dirty="0"/>
          </a:p>
          <a:p>
            <a:pPr algn="left"/>
            <a:r>
              <a:rPr lang="uz-UZ" sz="1300" b="1" dirty="0">
                <a:solidFill>
                  <a:srgbClr val="E94560"/>
                </a:solidFill>
              </a:rPr>
              <a:t>[T] </a:t>
            </a:r>
            <a:r>
              <a:rPr lang="uz-UZ" sz="1300" b="0" dirty="0">
                <a:solidFill>
                  <a:srgbClr val="E0E0E0"/>
                </a:solidFill>
              </a:rPr>
              <a:t>T(x,y,z)  ➡  issiqlik oqimi</a:t>
            </a:r>
          </a:p>
          <a:p>
            <a:pPr algn="left"/>
            <a:r>
              <a:rPr lang="uz-UZ" sz="1300" b="1" dirty="0">
                <a:solidFill>
                  <a:srgbClr val="4361EE"/>
                </a:solidFill>
              </a:rPr>
              <a:t>[P] </a:t>
            </a:r>
            <a:r>
              <a:rPr lang="uz-UZ" sz="1300" b="0" dirty="0">
                <a:solidFill>
                  <a:srgbClr val="E0E0E0"/>
                </a:solidFill>
              </a:rPr>
              <a:t>P(x,y)    ➡  shamol yo'nalishi</a:t>
            </a:r>
          </a:p>
          <a:p>
            <a:pPr algn="left"/>
            <a:r>
              <a:rPr lang="uz-UZ" sz="1300" b="1" dirty="0">
                <a:solidFill>
                  <a:srgbClr val="06D6A0"/>
                </a:solidFill>
              </a:rPr>
              <a:t>[h] </a:t>
            </a:r>
            <a:r>
              <a:rPr lang="uz-UZ" sz="1300" b="0" dirty="0">
                <a:solidFill>
                  <a:srgbClr val="E0E0E0"/>
                </a:solidFill>
              </a:rPr>
              <a:t>h(x,y)    ➡  tik ko'tarilish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[AI] </a:t>
            </a:r>
            <a:r>
              <a:rPr lang="uz-UZ" sz="1300" b="0" dirty="0">
                <a:solidFill>
                  <a:srgbClr val="E0E0E0"/>
                </a:solidFill>
              </a:rPr>
              <a:t>ML da gradient tushish algoritmi</a:t>
            </a:r>
          </a:p>
        </p:txBody>
      </p:sp>
      <p:sp>
        <p:nvSpPr>
          <p:cNvPr id="115" name="t115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10 / 15</a:t>
            </a:r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2.3. TEYLOR FORMULASI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Taylor's Theorem for Multivariable Functions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90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glow rad="50000">
              <a:srgbClr val="4361EE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48000"/>
            <a:ext cx="28800" cy="900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396000" y="1620000"/>
            <a:ext cx="11447999" cy="75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100" b="0" i="1" dirty="0" smtClean="0">
                <a:solidFill>
                  <a:srgbClr val="F5A623"/>
                </a:solidFill>
              </a:rPr>
              <a:t>Ko'p o'zgaruvchili Teylor formulasi</a:t>
            </a:r>
          </a:p>
          <a:p>
            <a:pPr algn="ctr"/>
            <a:r>
              <a:rPr lang="uz-UZ" sz="1900" b="1" i="0" dirty="0" smtClean="0">
                <a:solidFill>
                  <a:srgbClr val="FFFFFF"/>
                </a:solidFill>
              </a:rPr>
              <a:t>f(x,y) = f(x₀,y₀) + df + (1/2!)d²f + ... + (1/n!)dⁿf(ξ,η) + Rₙ</a:t>
            </a:r>
          </a:p>
        </p:txBody>
      </p:sp>
      <p:sp>
        <p:nvSpPr>
          <p:cNvPr id="109" name="s109"/>
          <p:cNvSpPr/>
          <p:nvPr/>
        </p:nvSpPr>
        <p:spPr>
          <a:xfrm>
            <a:off x="288000" y="2664000"/>
            <a:ext cx="11627999" cy="108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0" name="t110"/>
          <p:cNvSpPr txBox="1">
            <a:spLocks noGrp="1"/>
          </p:cNvSpPr>
          <p:nvPr/>
        </p:nvSpPr>
        <p:spPr>
          <a:xfrm>
            <a:off x="540000" y="2736000"/>
            <a:ext cx="11160000" cy="93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i="0" dirty="0" smtClean="0">
                <a:solidFill>
                  <a:srgbClr val="F5A623"/>
                </a:solidFill>
              </a:rPr>
              <a:t>Ikkinchi tartibli yoyilma:</a:t>
            </a:r>
          </a:p>
          <a:p>
            <a:pPr algn="ctr"/>
            <a:r>
              <a:rPr lang="uz-UZ" sz="1500" b="1" i="0" dirty="0" smtClean="0">
                <a:solidFill>
                  <a:srgbClr val="FFFFFF"/>
                </a:solidFill>
              </a:rPr>
              <a:t>f(x,y) ≈ f(x₀,y₀) + f'x·Δx + f'y·Δy + (1/2)(f''xx·Δx² + 2f''xy·Δx·Δy + f''yy·Δy²)</a:t>
            </a:r>
          </a:p>
        </p:txBody>
      </p:sp>
      <p:sp>
        <p:nvSpPr>
          <p:cNvPr id="111" name="s111"/>
          <p:cNvSpPr/>
          <p:nvPr/>
        </p:nvSpPr>
        <p:spPr>
          <a:xfrm>
            <a:off x="288000" y="3960000"/>
            <a:ext cx="11627999" cy="18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glow rad="50000">
              <a:srgbClr val="06D6A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2" name="s112"/>
          <p:cNvSpPr/>
          <p:nvPr/>
        </p:nvSpPr>
        <p:spPr>
          <a:xfrm>
            <a:off x="288000" y="3960000"/>
            <a:ext cx="108000" cy="18000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13" name="t113"/>
          <p:cNvSpPr txBox="1">
            <a:spLocks noGrp="1"/>
          </p:cNvSpPr>
          <p:nvPr/>
        </p:nvSpPr>
        <p:spPr>
          <a:xfrm>
            <a:off x="540000" y="4031999"/>
            <a:ext cx="11160000" cy="1655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5A623"/>
                </a:solidFill>
              </a:rPr>
              <a:t>MISOL:  z = ln(x+y)  uchun Teylor formulasi (2-tartib bilan):</a:t>
            </a:r>
          </a:p>
          <a:p>
            <a:endParaRPr lang="uz-UZ" dirty="0"/>
          </a:p>
          <a:p>
            <a:pPr algn="left"/>
            <a:r>
              <a:rPr lang="uz-UZ" sz="1400" b="0" i="0" dirty="0" smtClean="0">
                <a:solidFill>
                  <a:srgbClr val="E0E0E0"/>
                </a:solidFill>
              </a:rPr>
              <a:t>dz = (Δx+Δy)/(x+y)                         d²z = −(Δx+Δy)²/(x+y)²</a:t>
            </a:r>
          </a:p>
          <a:p>
            <a:endParaRPr lang="uz-UZ" dirty="0"/>
          </a:p>
          <a:p>
            <a:pPr algn="ctr"/>
            <a:r>
              <a:rPr lang="uz-UZ" sz="1500" b="1" i="0" dirty="0" smtClean="0">
                <a:solidFill>
                  <a:srgbClr val="FFFFFF"/>
                </a:solidFill>
              </a:rPr>
              <a:t>Δz ≈ (Δx+Δy)/(x+y)  −  (1/2) · [(Δx+Δy)/(x+y)]²</a:t>
            </a:r>
          </a:p>
        </p:txBody>
      </p:sp>
      <p:sp>
        <p:nvSpPr>
          <p:cNvPr id="114" name="t114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11 / 15</a:t>
            </a:r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2.4. EKSTREMUM – ZARURIY SHART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Necessary Condition for Extremum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5652000" cy="1188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E9456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48000"/>
            <a:ext cx="108000" cy="118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540000" y="1620000"/>
            <a:ext cx="5220000" cy="104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600" b="1" i="0" dirty="0" smtClean="0">
                <a:solidFill>
                  <a:srgbClr val="E94560"/>
                </a:solidFill>
              </a:rPr>
              <a:t>MAKSIMUM</a:t>
            </a:r>
          </a:p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Atrofida f(M) &lt; f(M₀)</a:t>
            </a:r>
          </a:p>
        </p:txBody>
      </p:sp>
      <p:sp>
        <p:nvSpPr>
          <p:cNvPr id="109" name="s109"/>
          <p:cNvSpPr/>
          <p:nvPr/>
        </p:nvSpPr>
        <p:spPr>
          <a:xfrm>
            <a:off x="6228000" y="1548000"/>
            <a:ext cx="5652000" cy="1188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4361EE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0" name="s110"/>
          <p:cNvSpPr/>
          <p:nvPr/>
        </p:nvSpPr>
        <p:spPr>
          <a:xfrm>
            <a:off x="6228000" y="1548000"/>
            <a:ext cx="108000" cy="1188000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6480000" y="1620000"/>
            <a:ext cx="5220000" cy="104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600" b="1" i="0" dirty="0" smtClean="0">
                <a:solidFill>
                  <a:srgbClr val="4361EE"/>
                </a:solidFill>
              </a:rPr>
              <a:t>MINIMUM</a:t>
            </a:r>
          </a:p>
          <a:p>
            <a:pPr algn="left"/>
            <a:r>
              <a:rPr lang="uz-UZ" sz="1300" b="0" i="0" dirty="0" smtClean="0">
                <a:solidFill>
                  <a:srgbClr val="E0E0E0"/>
                </a:solidFill>
              </a:rPr>
              <a:t>Atrofida f(M) &gt; f(M₀)</a:t>
            </a:r>
          </a:p>
        </p:txBody>
      </p:sp>
      <p:sp>
        <p:nvSpPr>
          <p:cNvPr id="112" name="s112"/>
          <p:cNvSpPr/>
          <p:nvPr/>
        </p:nvSpPr>
        <p:spPr>
          <a:xfrm>
            <a:off x="288000" y="2951999"/>
            <a:ext cx="11627999" cy="126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FFD700"/>
            </a:solidFill>
          </a:ln>
          <a:effectLst>
            <a:glow rad="50000">
              <a:srgbClr val="FFD70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3" name="t113"/>
          <p:cNvSpPr txBox="1">
            <a:spLocks noGrp="1"/>
          </p:cNvSpPr>
          <p:nvPr/>
        </p:nvSpPr>
        <p:spPr>
          <a:xfrm>
            <a:off x="540000" y="3024000"/>
            <a:ext cx="11160000" cy="111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400" b="1" i="0" dirty="0" smtClean="0">
                <a:solidFill>
                  <a:srgbClr val="FFD700"/>
                </a:solidFill>
              </a:rPr>
              <a:t>ZARURIY SHART  (Ferma teoremasi analogiyasi):</a:t>
            </a:r>
          </a:p>
          <a:p>
            <a:pPr algn="ctr"/>
            <a:r>
              <a:rPr lang="uz-UZ" sz="1900" b="1" i="0" dirty="0" smtClean="0">
                <a:solidFill>
                  <a:srgbClr val="FFFFFF"/>
                </a:solidFill>
              </a:rPr>
              <a:t>f'x(M₀) = 0    va    f'y(M₀) = 0     ➡   STATSIONAR NUQTA</a:t>
            </a:r>
          </a:p>
        </p:txBody>
      </p:sp>
      <p:sp>
        <p:nvSpPr>
          <p:cNvPr id="114" name="s114"/>
          <p:cNvSpPr/>
          <p:nvPr/>
        </p:nvSpPr>
        <p:spPr>
          <a:xfrm>
            <a:off x="288000" y="4428000"/>
            <a:ext cx="11627999" cy="16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5" name="s115"/>
          <p:cNvSpPr/>
          <p:nvPr/>
        </p:nvSpPr>
        <p:spPr>
          <a:xfrm>
            <a:off x="288000" y="4428000"/>
            <a:ext cx="108000" cy="16200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16" name="t116"/>
          <p:cNvSpPr txBox="1">
            <a:spLocks noGrp="1"/>
          </p:cNvSpPr>
          <p:nvPr/>
        </p:nvSpPr>
        <p:spPr>
          <a:xfrm>
            <a:off x="540000" y="4500000"/>
            <a:ext cx="11160000" cy="1475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5A623"/>
                </a:solidFill>
              </a:rPr>
              <a:t>MISOL:  z = x² + y² − 4x − 6y + 5</a:t>
            </a:r>
          </a:p>
          <a:p>
            <a:pPr algn="left"/>
            <a:r>
              <a:rPr lang="uz-UZ" sz="1400" b="0" dirty="0">
                <a:solidFill>
                  <a:srgbClr val="E0E0E0"/>
                </a:solidFill>
              </a:rPr>
              <a:t>f'x = 2x − 4 = 0   </a:t>
            </a:r>
            <a:r>
              <a:rPr lang="uz-UZ" sz="1400" b="1" dirty="0">
                <a:solidFill>
                  <a:srgbClr val="06D6A0"/>
                </a:solidFill>
              </a:rPr>
              <a:t>➡   x = 2</a:t>
            </a:r>
          </a:p>
          <a:p>
            <a:pPr algn="left"/>
            <a:r>
              <a:rPr lang="uz-UZ" sz="1400" b="0" dirty="0">
                <a:solidFill>
                  <a:srgbClr val="E0E0E0"/>
                </a:solidFill>
              </a:rPr>
              <a:t>f'y = 2y − 6 = 0   </a:t>
            </a:r>
            <a:r>
              <a:rPr lang="uz-UZ" sz="1400" b="1" dirty="0">
                <a:solidFill>
                  <a:srgbClr val="06D6A0"/>
                </a:solidFill>
              </a:rPr>
              <a:t>➡   y = 3</a:t>
            </a:r>
          </a:p>
          <a:p>
            <a:pPr algn="left"/>
            <a:r>
              <a:rPr lang="uz-UZ" sz="1400" b="1" i="0" dirty="0" smtClean="0">
                <a:solidFill>
                  <a:srgbClr val="FFFFFF"/>
                </a:solidFill>
              </a:rPr>
              <a:t>Statsionar nuqta:   M₀(2, 3)  — keyingi slaydda tekshiriladi!</a:t>
            </a:r>
          </a:p>
        </p:txBody>
      </p:sp>
      <p:sp>
        <p:nvSpPr>
          <p:cNvPr id="117" name="t117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12 / 15</a:t>
            </a:r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2.4. EKSTREMUM – ETARLI SHART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Sufficient Condition – Sylvester's Criterion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11627999" cy="827999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4361EE"/>
            </a:solidFill>
          </a:ln>
          <a:effectLst>
            <a:glow rad="50000">
              <a:srgbClr val="4361EE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48000"/>
            <a:ext cx="28800" cy="827999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396000" y="1620000"/>
            <a:ext cx="11447999" cy="68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100" b="0" i="1" dirty="0" smtClean="0">
                <a:solidFill>
                  <a:srgbClr val="F5A623"/>
                </a:solidFill>
              </a:rPr>
              <a:t>Ikkinchi tartibli hosilalar (Gesse matritsasi determinanti)</a:t>
            </a:r>
          </a:p>
          <a:p>
            <a:pPr algn="ctr"/>
            <a:r>
              <a:rPr lang="uz-UZ" sz="1900" b="1" i="0" dirty="0" smtClean="0">
                <a:solidFill>
                  <a:srgbClr val="FFFFFF"/>
                </a:solidFill>
              </a:rPr>
              <a:t>A = f''xx(M₀),    B = f''xy(M₀),    C = f''yy(M₀),    Δ = A·C − B²</a:t>
            </a:r>
          </a:p>
        </p:txBody>
      </p:sp>
      <p:sp>
        <p:nvSpPr>
          <p:cNvPr id="109" name="s109"/>
          <p:cNvSpPr/>
          <p:nvPr/>
        </p:nvSpPr>
        <p:spPr>
          <a:xfrm>
            <a:off x="288000" y="2592000"/>
            <a:ext cx="5400000" cy="864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06D6A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0" name="s110"/>
          <p:cNvSpPr/>
          <p:nvPr/>
        </p:nvSpPr>
        <p:spPr>
          <a:xfrm>
            <a:off x="288000" y="2592000"/>
            <a:ext cx="108000" cy="8640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txBody>
          <a:bodyPr/>
          <a:lstStyle/>
        </p:txBody>
      </p:sp>
      <p:sp>
        <p:nvSpPr>
          <p:cNvPr id="111" name="t111"/>
          <p:cNvSpPr txBox="1">
            <a:spLocks noGrp="1"/>
          </p:cNvSpPr>
          <p:nvPr/>
        </p:nvSpPr>
        <p:spPr>
          <a:xfrm>
            <a:off x="540000" y="2736000"/>
            <a:ext cx="504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Δ &gt; 0  va  A &gt; 0</a:t>
            </a:r>
          </a:p>
        </p:txBody>
      </p:sp>
      <p:sp>
        <p:nvSpPr>
          <p:cNvPr id="112" name="s112"/>
          <p:cNvSpPr/>
          <p:nvPr/>
        </p:nvSpPr>
        <p:spPr>
          <a:xfrm>
            <a:off x="5868000" y="2592000"/>
            <a:ext cx="6048000" cy="864000"/>
          </a:xfrm>
          <a:prstGeom prst="roundRect">
            <a:avLst>
              <a:gd name="adj" fmla="val 15000"/>
            </a:avLst>
          </a:prstGeom>
          <a:solidFill>
            <a:srgbClr val="06D6A040"/>
          </a:solidFill>
          <a:ln w="19050">
            <a:solidFill>
              <a:srgbClr val="06D6A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3" name="t113"/>
          <p:cNvSpPr txBox="1">
            <a:spLocks noGrp="1"/>
          </p:cNvSpPr>
          <p:nvPr/>
        </p:nvSpPr>
        <p:spPr>
          <a:xfrm>
            <a:off x="6048000" y="2736000"/>
            <a:ext cx="5688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600" b="1" i="0" dirty="0" smtClean="0">
                <a:solidFill>
                  <a:srgbClr val="06D6A0"/>
                </a:solidFill>
              </a:rPr>
              <a:t>MINIMUM  ↓</a:t>
            </a:r>
          </a:p>
        </p:txBody>
      </p:sp>
      <p:sp>
        <p:nvSpPr>
          <p:cNvPr id="114" name="s114"/>
          <p:cNvSpPr/>
          <p:nvPr/>
        </p:nvSpPr>
        <p:spPr>
          <a:xfrm>
            <a:off x="288000" y="3564000"/>
            <a:ext cx="5400000" cy="864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E9456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5" name="s115"/>
          <p:cNvSpPr/>
          <p:nvPr/>
        </p:nvSpPr>
        <p:spPr>
          <a:xfrm>
            <a:off x="288000" y="3564000"/>
            <a:ext cx="108000" cy="86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16" name="t116"/>
          <p:cNvSpPr txBox="1">
            <a:spLocks noGrp="1"/>
          </p:cNvSpPr>
          <p:nvPr/>
        </p:nvSpPr>
        <p:spPr>
          <a:xfrm>
            <a:off x="540000" y="3708000"/>
            <a:ext cx="504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Δ &gt; 0  va  A &lt; 0</a:t>
            </a:r>
          </a:p>
        </p:txBody>
      </p:sp>
      <p:sp>
        <p:nvSpPr>
          <p:cNvPr id="117" name="s117"/>
          <p:cNvSpPr/>
          <p:nvPr/>
        </p:nvSpPr>
        <p:spPr>
          <a:xfrm>
            <a:off x="5868000" y="3564000"/>
            <a:ext cx="6048000" cy="864000"/>
          </a:xfrm>
          <a:prstGeom prst="roundRect">
            <a:avLst>
              <a:gd name="adj" fmla="val 15000"/>
            </a:avLst>
          </a:prstGeom>
          <a:solidFill>
            <a:srgbClr val="E9456040"/>
          </a:solidFill>
          <a:ln w="19050">
            <a:solidFill>
              <a:srgbClr val="E9456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18" name="t118"/>
          <p:cNvSpPr txBox="1">
            <a:spLocks noGrp="1"/>
          </p:cNvSpPr>
          <p:nvPr/>
        </p:nvSpPr>
        <p:spPr>
          <a:xfrm>
            <a:off x="6048000" y="3708000"/>
            <a:ext cx="5688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600" b="1" i="0" dirty="0" smtClean="0">
                <a:solidFill>
                  <a:srgbClr val="E94560"/>
                </a:solidFill>
              </a:rPr>
              <a:t>MAKSIMUM  ↑</a:t>
            </a:r>
          </a:p>
        </p:txBody>
      </p:sp>
      <p:sp>
        <p:nvSpPr>
          <p:cNvPr id="119" name="s119"/>
          <p:cNvSpPr/>
          <p:nvPr/>
        </p:nvSpPr>
        <p:spPr>
          <a:xfrm>
            <a:off x="288000" y="4536000"/>
            <a:ext cx="5400000" cy="864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F5A623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20" name="s120"/>
          <p:cNvSpPr/>
          <p:nvPr/>
        </p:nvSpPr>
        <p:spPr>
          <a:xfrm>
            <a:off x="288000" y="4536000"/>
            <a:ext cx="108000" cy="864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21" name="t121"/>
          <p:cNvSpPr txBox="1">
            <a:spLocks noGrp="1"/>
          </p:cNvSpPr>
          <p:nvPr/>
        </p:nvSpPr>
        <p:spPr>
          <a:xfrm>
            <a:off x="540000" y="4680000"/>
            <a:ext cx="504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Δ &lt; 0</a:t>
            </a:r>
          </a:p>
        </p:txBody>
      </p:sp>
      <p:sp>
        <p:nvSpPr>
          <p:cNvPr id="122" name="s122"/>
          <p:cNvSpPr/>
          <p:nvPr/>
        </p:nvSpPr>
        <p:spPr>
          <a:xfrm>
            <a:off x="5868000" y="4536000"/>
            <a:ext cx="6048000" cy="864000"/>
          </a:xfrm>
          <a:prstGeom prst="roundRect">
            <a:avLst>
              <a:gd name="adj" fmla="val 15000"/>
            </a:avLst>
          </a:prstGeom>
          <a:solidFill>
            <a:srgbClr val="F5A62340"/>
          </a:solidFill>
          <a:ln w="19050">
            <a:solidFill>
              <a:srgbClr val="F5A623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23" name="t123"/>
          <p:cNvSpPr txBox="1">
            <a:spLocks noGrp="1"/>
          </p:cNvSpPr>
          <p:nvPr/>
        </p:nvSpPr>
        <p:spPr>
          <a:xfrm>
            <a:off x="6048000" y="4680000"/>
            <a:ext cx="5688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600" b="1" i="0" dirty="0" smtClean="0">
                <a:solidFill>
                  <a:srgbClr val="F5A623"/>
                </a:solidFill>
              </a:rPr>
              <a:t>EGARI NUQTA  ✕  (ekstremum yo'q)</a:t>
            </a:r>
          </a:p>
        </p:txBody>
      </p:sp>
      <p:sp>
        <p:nvSpPr>
          <p:cNvPr id="124" name="s124"/>
          <p:cNvSpPr/>
          <p:nvPr/>
        </p:nvSpPr>
        <p:spPr>
          <a:xfrm>
            <a:off x="288000" y="5508000"/>
            <a:ext cx="5400000" cy="864000"/>
          </a:xfrm>
          <a:prstGeom prst="roundRect">
            <a:avLst>
              <a:gd name="adj" fmla="val 15000"/>
            </a:avLst>
          </a:prstGeom>
          <a:solidFill>
            <a:srgbClr val="1A1A2E"/>
          </a:solidFill>
          <a:ln w="19050">
            <a:solidFill>
              <a:srgbClr val="FFD70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25" name="s125"/>
          <p:cNvSpPr/>
          <p:nvPr/>
        </p:nvSpPr>
        <p:spPr>
          <a:xfrm>
            <a:off x="288000" y="5508000"/>
            <a:ext cx="108000" cy="864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/>
          <a:lstStyle/>
        </p:txBody>
      </p:sp>
      <p:sp>
        <p:nvSpPr>
          <p:cNvPr id="126" name="t126"/>
          <p:cNvSpPr txBox="1">
            <a:spLocks noGrp="1"/>
          </p:cNvSpPr>
          <p:nvPr/>
        </p:nvSpPr>
        <p:spPr>
          <a:xfrm>
            <a:off x="540000" y="5652000"/>
            <a:ext cx="5040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FFFFF"/>
                </a:solidFill>
              </a:rPr>
              <a:t>Δ = 0</a:t>
            </a:r>
          </a:p>
        </p:txBody>
      </p:sp>
      <p:sp>
        <p:nvSpPr>
          <p:cNvPr id="127" name="s127"/>
          <p:cNvSpPr/>
          <p:nvPr/>
        </p:nvSpPr>
        <p:spPr>
          <a:xfrm>
            <a:off x="5868000" y="5508000"/>
            <a:ext cx="6048000" cy="864000"/>
          </a:xfrm>
          <a:prstGeom prst="roundRect">
            <a:avLst>
              <a:gd name="adj" fmla="val 15000"/>
            </a:avLst>
          </a:prstGeom>
          <a:solidFill>
            <a:srgbClr val="FFD70040"/>
          </a:solidFill>
          <a:ln w="19050">
            <a:solidFill>
              <a:srgbClr val="FFD700"/>
            </a:solidFill>
          </a:ln>
          <a:effectLst>
            <a:outerShdw blurRad="60960" dist="38100" dir="5400000" algn="ctr" rotWithShape="0">
              <a:srgbClr val="000000">
                <a:alpha val="50000"/>
              </a:srgbClr>
            </a:outerShdw>
          </a:effectLst>
        </p:spPr>
        <p:txBody>
          <a:bodyPr/>
          <a:lstStyle/>
        </p:txBody>
      </p:sp>
      <p:sp>
        <p:nvSpPr>
          <p:cNvPr id="128" name="t128"/>
          <p:cNvSpPr txBox="1">
            <a:spLocks noGrp="1"/>
          </p:cNvSpPr>
          <p:nvPr/>
        </p:nvSpPr>
        <p:spPr>
          <a:xfrm>
            <a:off x="6048000" y="5652000"/>
            <a:ext cx="5688000" cy="57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600" b="1" i="0" dirty="0" smtClean="0">
                <a:solidFill>
                  <a:srgbClr val="FFD700"/>
                </a:solidFill>
              </a:rPr>
              <a:t>SHUBHALI  ?  (qo'shimcha tahlil kerak)</a:t>
            </a:r>
          </a:p>
        </p:txBody>
      </p:sp>
      <p:sp>
        <p:nvSpPr>
          <p:cNvPr id="129" name="t129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13 / 15</a:t>
            </a:r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1A1A2E"/>
              </a:gs>
              <a:gs pos="100000">
                <a:srgbClr val="0F3460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0"/>
            <a:ext cx="12193200" cy="1368000"/>
          </a:xfrm>
          <a:prstGeom prst="rect">
            <a:avLst/>
          </a:prstGeom>
          <a:gradFill>
            <a:gsLst>
              <a:gs pos="0">
                <a:srgbClr val="0F3460"/>
              </a:gs>
              <a:gs pos="100000">
                <a:srgbClr val="1A1A2E"/>
              </a:gs>
            </a:gsLst>
            <a:lin ang="0" scaled="0"/>
          </a:gradFill>
          <a:ln>
            <a:noFill/>
          </a:ln>
        </p:spPr>
        <p:txBody>
          <a:bodyPr/>
          <a:lstStyle/>
        </p:txBody>
      </p:sp>
      <p:sp>
        <p:nvSpPr>
          <p:cNvPr id="104" name="s104"/>
          <p:cNvSpPr/>
          <p:nvPr/>
        </p:nvSpPr>
        <p:spPr>
          <a:xfrm>
            <a:off x="0" y="0"/>
            <a:ext cx="180000" cy="136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5" name="t105"/>
          <p:cNvSpPr txBox="1">
            <a:spLocks noGrp="1"/>
          </p:cNvSpPr>
          <p:nvPr/>
        </p:nvSpPr>
        <p:spPr>
          <a:xfrm>
            <a:off x="288000" y="144000"/>
            <a:ext cx="11653200" cy="115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3000" b="1" i="0" dirty="0" smtClean="0">
                <a:solidFill>
                  <a:srgbClr val="FFFFFF"/>
                </a:solidFill>
              </a:rPr>
              <a:t>AMALIY TATBIQLAR</a:t>
            </a:r>
          </a:p>
          <a:p>
            <a:pPr algn="left"/>
            <a:r>
              <a:rPr lang="uz-UZ" sz="1500" b="0" i="1" dirty="0" smtClean="0">
                <a:solidFill>
                  <a:srgbClr val="F5A623"/>
                </a:solidFill>
              </a:rPr>
              <a:t>Real-World Applications</a:t>
            </a:r>
          </a:p>
        </p:txBody>
      </p:sp>
      <p:sp>
        <p:nvSpPr>
          <p:cNvPr id="106" name="s106"/>
          <p:cNvSpPr/>
          <p:nvPr/>
        </p:nvSpPr>
        <p:spPr>
          <a:xfrm>
            <a:off x="288000" y="1548000"/>
            <a:ext cx="5652000" cy="25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548000"/>
            <a:ext cx="5652000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E9456080"/>
              </a:gs>
              <a:gs pos="100000">
                <a:srgbClr val="1A1A2E"/>
              </a:gs>
            </a:gsLst>
            <a:lin ang="5400000" scaled="0"/>
          </a:gra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468000" y="1620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600" b="1" i="0" dirty="0" smtClean="0">
                <a:solidFill>
                  <a:srgbClr val="FFFFFF"/>
                </a:solidFill>
              </a:rPr>
              <a:t>FIZIKA</a:t>
            </a:r>
          </a:p>
        </p:txBody>
      </p:sp>
      <p:sp>
        <p:nvSpPr>
          <p:cNvPr id="109" name="t109"/>
          <p:cNvSpPr txBox="1">
            <a:spLocks noGrp="1"/>
          </p:cNvSpPr>
          <p:nvPr/>
        </p:nvSpPr>
        <p:spPr>
          <a:xfrm>
            <a:off x="4248000" y="1620000"/>
            <a:ext cx="154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400" b="1" i="0" dirty="0" smtClean="0">
                <a:solidFill>
                  <a:srgbClr val="E94560"/>
                </a:solidFill>
              </a:rPr>
              <a:t>T(x,y,z)</a:t>
            </a:r>
          </a:p>
        </p:txBody>
      </p:sp>
      <p:sp>
        <p:nvSpPr>
          <p:cNvPr id="110" name="t110"/>
          <p:cNvSpPr txBox="1">
            <a:spLocks noGrp="1"/>
          </p:cNvSpPr>
          <p:nvPr/>
        </p:nvSpPr>
        <p:spPr>
          <a:xfrm>
            <a:off x="468000" y="2340000"/>
            <a:ext cx="5328000" cy="162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Harorat maydoni taqsimoti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Elektr maydoni potensiali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Suyuqlik dinamikasi</a:t>
            </a:r>
          </a:p>
        </p:txBody>
      </p:sp>
      <p:sp>
        <p:nvSpPr>
          <p:cNvPr id="111" name="s111"/>
          <p:cNvSpPr/>
          <p:nvPr/>
        </p:nvSpPr>
        <p:spPr>
          <a:xfrm>
            <a:off x="6228000" y="1548000"/>
            <a:ext cx="5652000" cy="25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4361EE"/>
            </a:solidFill>
          </a:ln>
          <a:effectLst>
            <a:glow rad="50000">
              <a:srgbClr val="4361EE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2" name="s112"/>
          <p:cNvSpPr/>
          <p:nvPr/>
        </p:nvSpPr>
        <p:spPr>
          <a:xfrm>
            <a:off x="6228000" y="1548000"/>
            <a:ext cx="5652000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4361EE80"/>
              </a:gs>
              <a:gs pos="100000">
                <a:srgbClr val="1A1A2E"/>
              </a:gs>
            </a:gsLst>
            <a:lin ang="5400000" scaled="0"/>
          </a:gradFill>
          <a:ln>
            <a:noFill/>
          </a:ln>
        </p:spPr>
        <p:txBody>
          <a:bodyPr/>
          <a:lstStyle/>
        </p:txBody>
      </p:sp>
      <p:sp>
        <p:nvSpPr>
          <p:cNvPr id="113" name="t113"/>
          <p:cNvSpPr txBox="1">
            <a:spLocks noGrp="1"/>
          </p:cNvSpPr>
          <p:nvPr/>
        </p:nvSpPr>
        <p:spPr>
          <a:xfrm>
            <a:off x="6408000" y="1620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600" b="1" i="0" dirty="0" smtClean="0">
                <a:solidFill>
                  <a:srgbClr val="FFFFFF"/>
                </a:solidFill>
              </a:rPr>
              <a:t>IQTISODIYOT</a:t>
            </a:r>
          </a:p>
        </p:txBody>
      </p:sp>
      <p:sp>
        <p:nvSpPr>
          <p:cNvPr id="114" name="t114"/>
          <p:cNvSpPr txBox="1">
            <a:spLocks noGrp="1"/>
          </p:cNvSpPr>
          <p:nvPr/>
        </p:nvSpPr>
        <p:spPr>
          <a:xfrm>
            <a:off x="10188000" y="1620000"/>
            <a:ext cx="154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400" b="1" i="0" dirty="0" smtClean="0">
                <a:solidFill>
                  <a:srgbClr val="4361EE"/>
                </a:solidFill>
              </a:rPr>
              <a:t>P(x,y)</a:t>
            </a:r>
          </a:p>
        </p:txBody>
      </p:sp>
      <p:sp>
        <p:nvSpPr>
          <p:cNvPr id="115" name="t115"/>
          <p:cNvSpPr txBox="1">
            <a:spLocks noGrp="1"/>
          </p:cNvSpPr>
          <p:nvPr/>
        </p:nvSpPr>
        <p:spPr>
          <a:xfrm>
            <a:off x="6408000" y="2340000"/>
            <a:ext cx="5328000" cy="162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Foydani maksimallashtirish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Xarajatlarni minimallashtirish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Ishlab chiqarish funksiyasi</a:t>
            </a:r>
          </a:p>
        </p:txBody>
      </p:sp>
      <p:sp>
        <p:nvSpPr>
          <p:cNvPr id="116" name="s116"/>
          <p:cNvSpPr/>
          <p:nvPr/>
        </p:nvSpPr>
        <p:spPr>
          <a:xfrm>
            <a:off x="288000" y="4248000"/>
            <a:ext cx="5652000" cy="25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06D6A0"/>
            </a:solidFill>
          </a:ln>
          <a:effectLst>
            <a:glow rad="50000">
              <a:srgbClr val="06D6A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7" name="s117"/>
          <p:cNvSpPr/>
          <p:nvPr/>
        </p:nvSpPr>
        <p:spPr>
          <a:xfrm>
            <a:off x="288000" y="4248000"/>
            <a:ext cx="5652000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06D6A080"/>
              </a:gs>
              <a:gs pos="100000">
                <a:srgbClr val="1A1A2E"/>
              </a:gs>
            </a:gsLst>
            <a:lin ang="5400000" scaled="0"/>
          </a:gradFill>
          <a:ln>
            <a:noFill/>
          </a:ln>
        </p:spPr>
        <p:txBody>
          <a:bodyPr/>
          <a:lstStyle/>
        </p:txBody>
      </p:sp>
      <p:sp>
        <p:nvSpPr>
          <p:cNvPr id="118" name="t118"/>
          <p:cNvSpPr txBox="1">
            <a:spLocks noGrp="1"/>
          </p:cNvSpPr>
          <p:nvPr/>
        </p:nvSpPr>
        <p:spPr>
          <a:xfrm>
            <a:off x="468000" y="4320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600" b="1" i="0" dirty="0" smtClean="0">
                <a:solidFill>
                  <a:srgbClr val="FFFFFF"/>
                </a:solidFill>
              </a:rPr>
              <a:t>MUHANDISLIK</a:t>
            </a:r>
          </a:p>
        </p:txBody>
      </p:sp>
      <p:sp>
        <p:nvSpPr>
          <p:cNvPr id="119" name="t119"/>
          <p:cNvSpPr txBox="1">
            <a:spLocks noGrp="1"/>
          </p:cNvSpPr>
          <p:nvPr/>
        </p:nvSpPr>
        <p:spPr>
          <a:xfrm>
            <a:off x="4248000" y="4320000"/>
            <a:ext cx="154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400" b="1" i="0" dirty="0" smtClean="0">
                <a:solidFill>
                  <a:srgbClr val="06D6A0"/>
                </a:solidFill>
              </a:rPr>
              <a:t>f(x,y,z)</a:t>
            </a:r>
          </a:p>
        </p:txBody>
      </p:sp>
      <p:sp>
        <p:nvSpPr>
          <p:cNvPr id="120" name="t120"/>
          <p:cNvSpPr txBox="1">
            <a:spLocks noGrp="1"/>
          </p:cNvSpPr>
          <p:nvPr/>
        </p:nvSpPr>
        <p:spPr>
          <a:xfrm>
            <a:off x="468000" y="5040000"/>
            <a:ext cx="5328000" cy="162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Konstruktsiya optimallashtirish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Issiqlik o'tkazuvchanlik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3D modellashtirish (CAD)</a:t>
            </a:r>
          </a:p>
        </p:txBody>
      </p:sp>
      <p:sp>
        <p:nvSpPr>
          <p:cNvPr id="121" name="s121"/>
          <p:cNvSpPr/>
          <p:nvPr/>
        </p:nvSpPr>
        <p:spPr>
          <a:xfrm>
            <a:off x="6228000" y="4248000"/>
            <a:ext cx="5652000" cy="25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F5A623"/>
            </a:solidFill>
          </a:ln>
          <a:effectLst>
            <a:glow rad="50000">
              <a:srgbClr val="F5A623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22" name="s122"/>
          <p:cNvSpPr/>
          <p:nvPr/>
        </p:nvSpPr>
        <p:spPr>
          <a:xfrm>
            <a:off x="6228000" y="4248000"/>
            <a:ext cx="5652000" cy="7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A62380"/>
              </a:gs>
              <a:gs pos="100000">
                <a:srgbClr val="1A1A2E"/>
              </a:gs>
            </a:gsLst>
            <a:lin ang="5400000" scaled="0"/>
          </a:gradFill>
          <a:ln>
            <a:noFill/>
          </a:ln>
        </p:spPr>
        <p:txBody>
          <a:bodyPr/>
          <a:lstStyle/>
        </p:txBody>
      </p:sp>
      <p:sp>
        <p:nvSpPr>
          <p:cNvPr id="123" name="t123"/>
          <p:cNvSpPr txBox="1">
            <a:spLocks noGrp="1"/>
          </p:cNvSpPr>
          <p:nvPr/>
        </p:nvSpPr>
        <p:spPr>
          <a:xfrm>
            <a:off x="6408000" y="4320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600" b="1" i="0" dirty="0" smtClean="0">
                <a:solidFill>
                  <a:srgbClr val="FFFFFF"/>
                </a:solidFill>
              </a:rPr>
              <a:t>SUN'IY INTELLEKT</a:t>
            </a:r>
          </a:p>
        </p:txBody>
      </p:sp>
      <p:sp>
        <p:nvSpPr>
          <p:cNvPr id="124" name="t124"/>
          <p:cNvSpPr txBox="1">
            <a:spLocks noGrp="1"/>
          </p:cNvSpPr>
          <p:nvPr/>
        </p:nvSpPr>
        <p:spPr>
          <a:xfrm>
            <a:off x="10188000" y="4320000"/>
            <a:ext cx="1548000" cy="324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400" b="1" i="0" dirty="0" smtClean="0">
                <a:solidFill>
                  <a:srgbClr val="F5A623"/>
                </a:solidFill>
              </a:rPr>
              <a:t>L(θ)</a:t>
            </a:r>
          </a:p>
        </p:txBody>
      </p:sp>
      <p:sp>
        <p:nvSpPr>
          <p:cNvPr id="125" name="t125"/>
          <p:cNvSpPr txBox="1">
            <a:spLocks noGrp="1"/>
          </p:cNvSpPr>
          <p:nvPr/>
        </p:nvSpPr>
        <p:spPr>
          <a:xfrm>
            <a:off x="6408000" y="5040000"/>
            <a:ext cx="5328000" cy="162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Gradient tushish algoritmi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Neyron tarmoq o'rgatish</a:t>
            </a:r>
          </a:p>
          <a:p>
            <a:pPr algn="left"/>
            <a:r>
              <a:rPr lang="uz-UZ" sz="1300" b="1" dirty="0">
                <a:solidFill>
                  <a:srgbClr val="F5A623"/>
                </a:solidFill>
              </a:rPr>
              <a:t>▸ </a:t>
            </a:r>
            <a:r>
              <a:rPr lang="uz-UZ" sz="1300" b="0" dirty="0">
                <a:solidFill>
                  <a:srgbClr val="E0E0E0"/>
                </a:solidFill>
              </a:rPr>
              <a:t>Eng kichik kvadratlar usuli</a:t>
            </a:r>
          </a:p>
        </p:txBody>
      </p:sp>
      <p:sp>
        <p:nvSpPr>
          <p:cNvPr id="126" name="t126"/>
          <p:cNvSpPr txBox="1">
            <a:spLocks noGrp="1"/>
          </p:cNvSpPr>
          <p:nvPr/>
        </p:nvSpPr>
        <p:spPr>
          <a:xfrm>
            <a:off x="10933200" y="6498000"/>
            <a:ext cx="1152000" cy="288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right"/>
            <a:r>
              <a:rPr lang="uz-UZ" sz="1200" b="0" i="0" dirty="0" smtClean="0">
                <a:solidFill>
                  <a:srgbClr val="A0A0B0"/>
                </a:solidFill>
              </a:rPr>
              <a:t>  14 / 15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10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gradFill>
            <a:gsLst>
              <a:gs pos="0">
                <a:srgbClr val="0F0E17"/>
              </a:gs>
              <a:gs pos="50000">
                <a:srgbClr val="0F3460"/>
              </a:gs>
              <a:gs pos="100000">
                <a:srgbClr val="1A1A2E"/>
              </a:gs>
            </a:gsLst>
            <a:lin ang="13500000" scaled="0"/>
          </a:gradFill>
        </p:spPr>
        <p:txBody>
          <a:bodyPr/>
          <a:lstStyle/>
        </p:txBody>
      </p:sp>
      <p:sp>
        <p:nvSpPr>
          <p:cNvPr id="102" name="s102"/>
          <p:cNvSpPr/>
          <p:nvPr/>
        </p:nvSpPr>
        <p:spPr>
          <a:xfrm>
            <a:off x="0" y="0"/>
            <a:ext cx="12193200" cy="432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3" name="s103"/>
          <p:cNvSpPr/>
          <p:nvPr/>
        </p:nvSpPr>
        <p:spPr>
          <a:xfrm>
            <a:off x="0" y="6814800"/>
            <a:ext cx="12193200" cy="43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04" name="t104"/>
          <p:cNvSpPr txBox="1">
            <a:spLocks noGrp="1"/>
          </p:cNvSpPr>
          <p:nvPr/>
        </p:nvSpPr>
        <p:spPr>
          <a:xfrm>
            <a:off x="360000" y="180000"/>
            <a:ext cx="11473200" cy="54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3200" b="1" i="0" dirty="0" smtClean="0">
                <a:solidFill>
                  <a:srgbClr val="FFFFFF"/>
                </a:solidFill>
              </a:rPr>
              <a:t>XULOSA</a:t>
            </a:r>
          </a:p>
        </p:txBody>
      </p:sp>
      <p:sp>
        <p:nvSpPr>
          <p:cNvPr id="105" name="s105"/>
          <p:cNvSpPr/>
          <p:nvPr/>
        </p:nvSpPr>
        <p:spPr>
          <a:xfrm>
            <a:off x="540000" y="792000"/>
            <a:ext cx="10800000" cy="1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6" name="s106"/>
          <p:cNvSpPr/>
          <p:nvPr/>
        </p:nvSpPr>
        <p:spPr>
          <a:xfrm>
            <a:off x="288000" y="1007999"/>
            <a:ext cx="5580000" cy="43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E94560"/>
            </a:solidFill>
          </a:ln>
          <a:effectLst>
            <a:glow rad="50000">
              <a:srgbClr val="E9456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07" name="s107"/>
          <p:cNvSpPr/>
          <p:nvPr/>
        </p:nvSpPr>
        <p:spPr>
          <a:xfrm>
            <a:off x="288000" y="1007999"/>
            <a:ext cx="108000" cy="4320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txBody>
          <a:bodyPr/>
          <a:lstStyle/>
        </p:txBody>
      </p:sp>
      <p:sp>
        <p:nvSpPr>
          <p:cNvPr id="108" name="t108"/>
          <p:cNvSpPr txBox="1">
            <a:spLocks noGrp="1"/>
          </p:cNvSpPr>
          <p:nvPr/>
        </p:nvSpPr>
        <p:spPr>
          <a:xfrm>
            <a:off x="540000" y="1080000"/>
            <a:ext cx="52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E94560"/>
                </a:solidFill>
              </a:rPr>
              <a:t>NAZARIY NATIJALAR</a:t>
            </a:r>
          </a:p>
        </p:txBody>
      </p:sp>
      <p:sp>
        <p:nvSpPr>
          <p:cNvPr id="109" name="t109"/>
          <p:cNvSpPr txBox="1">
            <a:spLocks noGrp="1"/>
          </p:cNvSpPr>
          <p:nvPr/>
        </p:nvSpPr>
        <p:spPr>
          <a:xfrm>
            <a:off x="540000" y="1620000"/>
            <a:ext cx="5220000" cy="342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200" b="1" dirty="0">
                <a:solidFill>
                  <a:srgbClr val="F5A623"/>
                </a:solidFill>
              </a:rPr>
              <a:t>✓ </a:t>
            </a:r>
            <a:r>
              <a:rPr lang="uz-UZ" sz="1200" b="0" dirty="0">
                <a:solidFill>
                  <a:srgbClr val="E0E0E0"/>
                </a:solidFill>
              </a:rPr>
              <a:t>Funksiya, aniqlash sohasi, uzluksizlik o'rganildi</a:t>
            </a:r>
          </a:p>
          <a:p>
            <a:pPr algn="left"/>
            <a:r>
              <a:rPr lang="uz-UZ" sz="1200" b="1" dirty="0">
                <a:solidFill>
                  <a:srgbClr val="F5A623"/>
                </a:solidFill>
              </a:rPr>
              <a:t>✓ </a:t>
            </a:r>
            <a:r>
              <a:rPr lang="uz-UZ" sz="1200" b="0" dirty="0">
                <a:solidFill>
                  <a:srgbClr val="E0E0E0"/>
                </a:solidFill>
              </a:rPr>
              <a:t>Xususiy hosila va to'liq differensial tahlil qilindi</a:t>
            </a:r>
          </a:p>
          <a:p>
            <a:pPr algn="left"/>
            <a:r>
              <a:rPr lang="uz-UZ" sz="1200" b="1" dirty="0">
                <a:solidFill>
                  <a:srgbClr val="F5A623"/>
                </a:solidFill>
              </a:rPr>
              <a:t>✓ </a:t>
            </a:r>
            <a:r>
              <a:rPr lang="uz-UZ" sz="1200" b="0" dirty="0">
                <a:solidFill>
                  <a:srgbClr val="E0E0E0"/>
                </a:solidFill>
              </a:rPr>
              <a:t>Shvarts teoremasi va invariantlik isbotlandi</a:t>
            </a:r>
          </a:p>
          <a:p>
            <a:pPr algn="left"/>
            <a:r>
              <a:rPr lang="uz-UZ" sz="1200" b="1" dirty="0">
                <a:solidFill>
                  <a:srgbClr val="F5A623"/>
                </a:solidFill>
              </a:rPr>
              <a:t>✓ </a:t>
            </a:r>
            <a:r>
              <a:rPr lang="uz-UZ" sz="1200" b="0" dirty="0">
                <a:solidFill>
                  <a:srgbClr val="E0E0E0"/>
                </a:solidFill>
              </a:rPr>
              <a:t>Gradient va yo'nalish bo'yicha hosila yoritildi</a:t>
            </a:r>
          </a:p>
        </p:txBody>
      </p:sp>
      <p:sp>
        <p:nvSpPr>
          <p:cNvPr id="110" name="s110"/>
          <p:cNvSpPr/>
          <p:nvPr/>
        </p:nvSpPr>
        <p:spPr>
          <a:xfrm>
            <a:off x="6228000" y="1007999"/>
            <a:ext cx="5580000" cy="432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16213E"/>
              </a:gs>
              <a:gs pos="100000">
                <a:srgbClr val="1A1A2E"/>
              </a:gs>
            </a:gsLst>
            <a:lin ang="5400000" scaled="0"/>
          </a:gradFill>
          <a:ln w="19050">
            <a:solidFill>
              <a:srgbClr val="F5A623"/>
            </a:solidFill>
          </a:ln>
          <a:effectLst>
            <a:glow rad="50000">
              <a:srgbClr val="F5A623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1" name="s111"/>
          <p:cNvSpPr/>
          <p:nvPr/>
        </p:nvSpPr>
        <p:spPr>
          <a:xfrm>
            <a:off x="6228000" y="1007999"/>
            <a:ext cx="108000" cy="4320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txBody>
          <a:bodyPr/>
          <a:lstStyle/>
        </p:txBody>
      </p:sp>
      <p:sp>
        <p:nvSpPr>
          <p:cNvPr id="112" name="t112"/>
          <p:cNvSpPr txBox="1">
            <a:spLocks noGrp="1"/>
          </p:cNvSpPr>
          <p:nvPr/>
        </p:nvSpPr>
        <p:spPr>
          <a:xfrm>
            <a:off x="6480000" y="1080000"/>
            <a:ext cx="522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500" b="1" i="0" dirty="0" smtClean="0">
                <a:solidFill>
                  <a:srgbClr val="F5A623"/>
                </a:solidFill>
              </a:rPr>
              <a:t>AMALIY NATIJALAR</a:t>
            </a:r>
          </a:p>
        </p:txBody>
      </p:sp>
      <p:sp>
        <p:nvSpPr>
          <p:cNvPr id="113" name="t113"/>
          <p:cNvSpPr txBox="1">
            <a:spLocks noGrp="1"/>
          </p:cNvSpPr>
          <p:nvPr/>
        </p:nvSpPr>
        <p:spPr>
          <a:xfrm>
            <a:off x="6480000" y="1620000"/>
            <a:ext cx="5220000" cy="342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eft"/>
            <a:r>
              <a:rPr lang="uz-UZ" sz="1200" b="1" dirty="0">
                <a:solidFill>
                  <a:srgbClr val="F5A623"/>
                </a:solidFill>
              </a:rPr>
              <a:t>✓ </a:t>
            </a:r>
            <a:r>
              <a:rPr lang="uz-UZ" sz="1200" b="0" dirty="0">
                <a:solidFill>
                  <a:srgbClr val="E0E0E0"/>
                </a:solidFill>
              </a:rPr>
              <a:t>Taqribiy hisoblash usullari qo'llanildi</a:t>
            </a:r>
          </a:p>
          <a:p>
            <a:pPr algn="left"/>
            <a:r>
              <a:rPr lang="uz-UZ" sz="1200" b="1" dirty="0">
                <a:solidFill>
                  <a:srgbClr val="F5A623"/>
                </a:solidFill>
              </a:rPr>
              <a:t>✓ </a:t>
            </a:r>
            <a:r>
              <a:rPr lang="uz-UZ" sz="1200" b="0" dirty="0">
                <a:solidFill>
                  <a:srgbClr val="E0E0E0"/>
                </a:solidFill>
              </a:rPr>
              <a:t>Teylor formulasi ko'p o'zgaruvchili holga tatbiq etildi</a:t>
            </a:r>
          </a:p>
          <a:p>
            <a:pPr algn="left"/>
            <a:r>
              <a:rPr lang="uz-UZ" sz="1200" b="1" dirty="0">
                <a:solidFill>
                  <a:srgbClr val="F5A623"/>
                </a:solidFill>
              </a:rPr>
              <a:t>✓ </a:t>
            </a:r>
            <a:r>
              <a:rPr lang="uz-UZ" sz="1200" b="0" dirty="0">
                <a:solidFill>
                  <a:srgbClr val="E0E0E0"/>
                </a:solidFill>
              </a:rPr>
              <a:t>Silvestr alomati orqali ekstremumlar topildi</a:t>
            </a:r>
          </a:p>
          <a:p>
            <a:pPr algn="left"/>
            <a:r>
              <a:rPr lang="uz-UZ" sz="1200" b="1" dirty="0">
                <a:solidFill>
                  <a:srgbClr val="F5A623"/>
                </a:solidFill>
              </a:rPr>
              <a:t>✓ </a:t>
            </a:r>
            <a:r>
              <a:rPr lang="uz-UZ" sz="1200" b="0" dirty="0">
                <a:solidFill>
                  <a:srgbClr val="E0E0E0"/>
                </a:solidFill>
              </a:rPr>
              <a:t>Eng kichik kvadratlar usuli o'rganildi</a:t>
            </a:r>
          </a:p>
        </p:txBody>
      </p:sp>
      <p:sp>
        <p:nvSpPr>
          <p:cNvPr id="114" name="s114"/>
          <p:cNvSpPr/>
          <p:nvPr/>
        </p:nvSpPr>
        <p:spPr>
          <a:xfrm>
            <a:off x="288000" y="5508000"/>
            <a:ext cx="11627999" cy="900000"/>
          </a:xfrm>
          <a:prstGeom prst="roundRect">
            <a:avLst>
              <a:gd name="adj" fmla="val 15000"/>
            </a:avLst>
          </a:prstGeom>
          <a:solidFill>
            <a:srgbClr val="0F3460"/>
          </a:solidFill>
          <a:ln w="19050">
            <a:solidFill>
              <a:srgbClr val="FFD700"/>
            </a:solidFill>
          </a:ln>
          <a:effectLst>
            <a:glow rad="50000">
              <a:srgbClr val="FFD700">
                <a:alpha val="40000"/>
              </a:srgbClr>
            </a:glow>
          </a:effectLst>
        </p:spPr>
        <p:txBody>
          <a:bodyPr/>
          <a:lstStyle/>
        </p:txBody>
      </p:sp>
      <p:sp>
        <p:nvSpPr>
          <p:cNvPr id="115" name="t115"/>
          <p:cNvSpPr txBox="1">
            <a:spLocks noGrp="1"/>
          </p:cNvSpPr>
          <p:nvPr/>
        </p:nvSpPr>
        <p:spPr>
          <a:xfrm>
            <a:off x="540000" y="5580000"/>
            <a:ext cx="11160000" cy="756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1300" b="0" i="0" dirty="0" smtClean="0">
                <a:solidFill>
                  <a:srgbClr val="E0E0E0"/>
                </a:solidFill>
              </a:rPr>
              <a:t>Ko'p o'zgaruvchili funksiyalar differensial hisobi – real dunyodagi ko'p omilli jarayonlarni</a:t>
            </a:r>
          </a:p>
          <a:p>
            <a:pPr algn="ctr"/>
            <a:r>
              <a:rPr lang="uz-UZ" sz="1400" b="1" i="0" dirty="0" smtClean="0">
                <a:solidFill>
                  <a:srgbClr val="FFD700"/>
                </a:solidFill>
              </a:rPr>
              <a:t>matematik tilda ifodalash, tahlil qilish va optimal yechimlar topish uchun universal vositadir!</a:t>
            </a:r>
          </a:p>
        </p:txBody>
      </p:sp>
      <p:sp>
        <p:nvSpPr>
          <p:cNvPr id="116" name="t116"/>
          <p:cNvSpPr txBox="1">
            <a:spLocks noGrp="1"/>
          </p:cNvSpPr>
          <p:nvPr/>
        </p:nvSpPr>
        <p:spPr>
          <a:xfrm>
            <a:off x="0" y="6318000"/>
            <a:ext cx="12193200" cy="432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uz-UZ" sz="2200" b="1" i="0" dirty="0" smtClean="0">
                <a:solidFill>
                  <a:srgbClr val="FFFFFF"/>
                </a:solidFill>
              </a:rPr>
              <a:t>E'TIBORINGIZ UCHUN KATTA RAHMAT!   [BMI 2025]</a:t>
            </a:r>
          </a:p>
        </p:txBody>
      </p:sp>
    </p:spTree>
  </p:cSld>
</p:sld>
</file>