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6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3200" cy="6858000" type="custom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4518000"/>
            <a:ext cx="12193200" cy="234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</p:txBody>
      </p:sp>
      <p:sp>
        <p:nvSpPr>
          <p:cNvPr id="12" name="r12"/>
          <p:cNvSpPr/>
          <p:nvPr/>
        </p:nvSpPr>
        <p:spPr>
          <a:xfrm>
            <a:off x="0" y="3420000"/>
            <a:ext cx="12193200" cy="180000"/>
          </a:xfrm>
          <a:prstGeom prst="rect">
            <a:avLst/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540000" y="360000"/>
            <a:ext cx="10800000" cy="126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2600" b="1" i="0" dirty="0">
                <a:solidFill>
                  <a:srgbClr val="FFFFFF"/>
                </a:solidFill>
              </a:rPr>
              <a:t>KO'P O'ZGARUVCHILI FUNKSIYANING</a:t>
            </a:r>
          </a:p>
          <a:p>
            <a:pPr algn="ctr"/>
            <a:r>
              <a:rPr lang="uz-UZ" sz="2600" b="1" i="0" dirty="0">
                <a:solidFill>
                  <a:srgbClr val="FFF3CD"/>
                </a:solidFill>
              </a:rPr>
              <a:t>DIFFERENSIALI VA UNING AYRIM TADBIQLARI</a:t>
            </a:r>
          </a:p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540000" y="1728000"/>
            <a:ext cx="10800000" cy="54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500" b="0" i="0" dirty="0">
                <a:solidFill>
                  <a:srgbClr val="FFFFFF"/>
                </a:solidFill>
              </a:rPr>
              <a:t>60110600 – Matematika va informatika ta'lim yo'nalishi</a:t>
            </a:r>
          </a:p>
          <a:p>
            <a:pPr algn="ctr"/>
            <a:r>
              <a:rPr lang="uz-UZ" sz="1400" b="0" i="0" dirty="0">
                <a:solidFill>
                  <a:srgbClr val="FFFFFF"/>
                </a:solidFill>
              </a:rPr>
              <a:t>Bakalavr darajasini olish uchun BITIRUV MALAKAVIY ISHI</a:t>
            </a:r>
          </a:p>
        </p:txBody>
      </p:sp>
      <p:sp>
        <p:nvSpPr>
          <p:cNvPr id="20" name="r20"/>
          <p:cNvSpPr/>
          <p:nvPr/>
        </p:nvSpPr>
        <p:spPr>
          <a:xfrm>
            <a:off x="1080000" y="4140000"/>
            <a:ext cx="10033200" cy="198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260000" y="4320000"/>
            <a:ext cx="9720000" cy="16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800" b="1" i="0" dirty="0">
                <a:solidFill>
                  <a:srgbClr val="4A54C8"/>
                </a:solidFill>
              </a:rPr>
              <a:t>Bajardi:  Samadov Asliddin Zafarjon o'g'li</a:t>
            </a:r>
          </a:p>
          <a:p>
            <a:pPr algn="ctr"/>
            <a:r>
              <a:rPr lang="uz-UZ" sz="1600" b="0" i="0" dirty="0">
                <a:solidFill>
                  <a:srgbClr val="1A1A2E"/>
                </a:solidFill>
              </a:rPr>
              <a:t>Ilmiy rahbar:  v.b.dots. Majidov Sh. A.</a:t>
            </a:r>
          </a:p>
          <a:p>
            <a:pPr algn="left"/>
            <a:r>
              <a:rPr lang="uz-UZ" sz="1000" b="0" i="0" dirty="0">
                <a:solidFill>
                  <a:srgbClr val="1A1A2E"/>
                </a:solidFill>
              </a:rPr>
              <a:t/>
            </a:r>
          </a:p>
          <a:p>
            <a:pPr algn="ctr"/>
            <a:r>
              <a:rPr lang="uz-UZ" sz="1400" b="0" i="0" dirty="0">
                <a:solidFill>
                  <a:srgbClr val="764BA2"/>
                </a:solidFill>
              </a:rPr>
              <a:t>NAVOIY DAVLAT UNIVERSITETI  |  Navoiy – 2025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MUNDARIJA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5580000" cy="522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60000"/>
            <a:ext cx="5400000" cy="504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600" b="1" i="0" dirty="0">
                <a:solidFill>
                  <a:srgbClr val="4A54C8"/>
                </a:solidFill>
              </a:rPr>
              <a:t>I-BOB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1.1  Xususiy hosilalar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1.2  Differensiallanuvchilik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1.3  To'liq differensial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1.4  Yuqori tartibli hosilalar</a:t>
            </a:r>
          </a:p>
        </p:txBody>
      </p:sp>
      <p:sp>
        <p:nvSpPr>
          <p:cNvPr id="21" name="r21"/>
          <p:cNvSpPr/>
          <p:nvPr/>
        </p:nvSpPr>
        <p:spPr>
          <a:xfrm>
            <a:off x="6300000" y="1152000"/>
            <a:ext cx="5580000" cy="522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443999" y="1260000"/>
            <a:ext cx="5400000" cy="504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600" b="1" i="0" dirty="0">
                <a:solidFill>
                  <a:srgbClr val="764BA2"/>
                </a:solidFill>
              </a:rPr>
              <a:t>II-BOB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2.1  Taqribiy hisoblash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2.2  Yo'nalish bo'yicha hosila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2.3  Teylor formulasi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2.4  Ekstremum qiymatlari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2.5  Eng kichik kvadratlar usuli</a:t>
            </a:r>
          </a:p>
          <a:p>
            <a:pPr algn="left"/>
            <a:r>
              <a:rPr lang="uz-UZ" sz="800" b="0" i="0" dirty="0">
                <a:solidFill>
                  <a:srgbClr val="1A1A2E"/>
                </a:solidFill>
              </a:rPr>
              <a:t/>
            </a:r>
          </a:p>
          <a:p>
            <a:pPr algn="left"/>
            <a:r>
              <a:rPr lang="uz-UZ" sz="1400" b="1" i="0" dirty="0">
                <a:solidFill>
                  <a:srgbClr val="764BA2"/>
                </a:solidFill>
              </a:rPr>
              <a:t>XULOSA  |  ADABIYOTLAR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2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MAVZUNING DOLZARBLIGI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11627999" cy="1007999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>
            <a:solidFill>
              <a:srgbClr val="FFC107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11520000" cy="93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7B5E00"/>
                </a:solidFill>
              </a:rPr>
              <a:t>O'zbekiston Respublikasi Prezidentining 2020-yil 7-maydagi PQ-4708-sonli qarori:</a:t>
            </a:r>
          </a:p>
          <a:p>
            <a:pPr algn="left"/>
            <a:r>
              <a:rPr lang="uz-UZ" sz="1300" b="0" i="1" dirty="0">
                <a:solidFill>
                  <a:srgbClr val="7B5E00"/>
                </a:solidFill>
              </a:rPr>
              <a:t>"Matematika sohasidagi ta'lim sifatini oshirish va ilmiy-tadqiqotlarni rivojlantirish"</a:t>
            </a:r>
          </a:p>
        </p:txBody>
      </p:sp>
      <p:sp>
        <p:nvSpPr>
          <p:cNvPr id="30" name="r30"/>
          <p:cNvSpPr/>
          <p:nvPr/>
        </p:nvSpPr>
        <p:spPr>
          <a:xfrm>
            <a:off x="288000" y="2340000"/>
            <a:ext cx="5652000" cy="180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2448000"/>
            <a:ext cx="5400000" cy="16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4A54C8"/>
                </a:solidFill>
              </a:rPr>
              <a:t>Kop faktorli muammolar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Zamonaviy fan va texnikada jarayonlar kop omilga bog'liq</a:t>
            </a:r>
          </a:p>
        </p:txBody>
      </p:sp>
      <p:sp>
        <p:nvSpPr>
          <p:cNvPr id="31" name="r31"/>
          <p:cNvSpPr/>
          <p:nvPr/>
        </p:nvSpPr>
        <p:spPr>
          <a:xfrm>
            <a:off x="6228000" y="2340000"/>
            <a:ext cx="5652000" cy="180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372000" y="2448000"/>
            <a:ext cx="5400000" cy="16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4A54C8"/>
                </a:solidFill>
              </a:rPr>
              <a:t>Amaliy ahamiyat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Fizika, iqtisodiyot, muhandislikda keng qo'llaniladi</a:t>
            </a:r>
          </a:p>
        </p:txBody>
      </p:sp>
      <p:sp>
        <p:nvSpPr>
          <p:cNvPr id="32" name="r32"/>
          <p:cNvSpPr/>
          <p:nvPr/>
        </p:nvSpPr>
        <p:spPr>
          <a:xfrm>
            <a:off x="288000" y="4320000"/>
            <a:ext cx="5652000" cy="180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4428000"/>
            <a:ext cx="5400000" cy="16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4A54C8"/>
                </a:solidFill>
              </a:rPr>
              <a:t>Optimallashtirish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Eng yaxshi yechimlarni topishda asosiy matematik vosita</a:t>
            </a:r>
          </a:p>
        </p:txBody>
      </p:sp>
      <p:sp>
        <p:nvSpPr>
          <p:cNvPr id="33" name="r33"/>
          <p:cNvSpPr/>
          <p:nvPr/>
        </p:nvSpPr>
        <p:spPr>
          <a:xfrm>
            <a:off x="6228000" y="4320000"/>
            <a:ext cx="5652000" cy="180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372000" y="4428000"/>
            <a:ext cx="5400000" cy="16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4A54C8"/>
                </a:solidFill>
              </a:rPr>
              <a:t>Modellashtirish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Murakkab tizimlarni matematik tilda ifodalash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3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TADQIQOT MAQSADI VA VAZIFALARI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11627999" cy="90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11520000" cy="827999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4A54C8"/>
                </a:solidFill>
              </a:rPr>
              <a:t>MAQSAD: Ko'p o'zgaruvchili funksiyalar differensial hisobining nazariy asoslarini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tizimli o'rganish va amaliy masalalarga tatbiq etish ko'nikmalarini shakllantirish.</a:t>
            </a:r>
          </a:p>
        </p:txBody>
      </p:sp>
      <p:sp>
        <p:nvSpPr>
          <p:cNvPr id="21" name="r21"/>
          <p:cNvSpPr/>
          <p:nvPr/>
        </p:nvSpPr>
        <p:spPr>
          <a:xfrm>
            <a:off x="288000" y="2232000"/>
            <a:ext cx="11627999" cy="39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2340000"/>
            <a:ext cx="11520000" cy="378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600" b="1" i="0" dirty="0">
                <a:solidFill>
                  <a:srgbClr val="764BA2"/>
                </a:solidFill>
              </a:rPr>
              <a:t>VAZIFALAR: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  1.  Nazariy tahlil: funksiya, aniqlash sohasi, uzluksizlik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  2.  Differensiallash: xususiy hosilalar, to'liq differensial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  3.  Geometrik ma'nolar: gradient, yo'nalish bo'yicha hosila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  4.  Taqribiy hisoblash: Teylor va Makloren formulalari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  5.  Ekstremumlar: statsionar nuqtalar, Gesse matritsasi</a:t>
            </a:r>
          </a:p>
        </p:txBody>
      </p:sp>
      <p:sp>
        <p:nvSpPr>
          <p:cNvPr id="22" name="r22"/>
          <p:cNvSpPr/>
          <p:nvPr/>
        </p:nvSpPr>
        <p:spPr>
          <a:xfrm>
            <a:off x="288000" y="6336000"/>
            <a:ext cx="11627999" cy="36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6372000"/>
            <a:ext cx="11520000" cy="324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300" b="0" i="1" dirty="0">
                <a:solidFill>
                  <a:srgbClr val="4A54C8"/>
                </a:solidFill>
              </a:rPr>
              <a:t>Tadqiqot obyekti: z = f(x1, x2, ..., xm)  –  ikki va undan ortiq argumentga bog'liq skalyar funksiyalar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4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1.1. XUSUSIY HOSILALAR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11627999" cy="126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11520000" cy="115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4A54C8"/>
                </a:solidFill>
              </a:rPr>
              <a:t>Ta'rif: Agar quyidagi limit mavjud va chekli bo'lsa:</a:t>
            </a:r>
          </a:p>
          <a:p>
            <a:pPr algn="left"/>
            <a:r>
              <a:rPr lang="uz-UZ" sz="1600" b="1" i="0" dirty="0">
                <a:solidFill>
                  <a:srgbClr val="1A1A2E"/>
                </a:solidFill>
              </a:rPr>
              <a:t>lim  [f(x0+Dx, y0) - f(x0, y0)] / Dx   (Dx -&gt; 0)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bu limit  f'x  –  x bo'yicha xususiy hosila deyiladi.</a:t>
            </a:r>
          </a:p>
        </p:txBody>
      </p:sp>
      <p:sp>
        <p:nvSpPr>
          <p:cNvPr id="21" name="r21"/>
          <p:cNvSpPr/>
          <p:nvPr/>
        </p:nvSpPr>
        <p:spPr>
          <a:xfrm>
            <a:off x="288000" y="2592000"/>
            <a:ext cx="5580000" cy="23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2664000"/>
            <a:ext cx="5400000" cy="223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764BA2"/>
                </a:solidFill>
              </a:rPr>
              <a:t>Belgichanlar:</a:t>
            </a:r>
          </a:p>
          <a:p>
            <a:pPr algn="left"/>
            <a:r>
              <a:rPr lang="uz-UZ" sz="1600" b="1" i="0" dirty="0">
                <a:solidFill>
                  <a:srgbClr val="4A54C8"/>
                </a:solidFill>
              </a:rPr>
              <a:t>df/dx  =  f'x  =  fx  =  dz/dx</a:t>
            </a:r>
          </a:p>
          <a:p>
            <a:pPr algn="left"/>
            <a:r>
              <a:rPr lang="uz-UZ" sz="800" b="0" i="0" dirty="0">
                <a:solidFill>
                  <a:srgbClr val="1A1A2E"/>
                </a:solidFill>
              </a:rPr>
              <a:t/>
            </a:r>
          </a:p>
          <a:p>
            <a:pPr algn="left"/>
            <a:r>
              <a:rPr lang="uz-UZ" sz="1400" b="1" i="0" dirty="0">
                <a:solidFill>
                  <a:srgbClr val="1A1A2E"/>
                </a:solidFill>
              </a:rPr>
              <a:t>Muhim qoida: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Xususiy hosila olganda boshqa</a:t>
            </a:r>
          </a:p>
          <a:p>
            <a:pPr algn="left"/>
            <a:r>
              <a:rPr lang="uz-UZ" sz="1300" b="1" i="0" dirty="0">
                <a:solidFill>
                  <a:srgbClr val="CC0000"/>
                </a:solidFill>
              </a:rPr>
              <a:t>o'zgaruvchilar O'ZGARMAS qilinadi!</a:t>
            </a:r>
          </a:p>
        </p:txBody>
      </p:sp>
      <p:sp>
        <p:nvSpPr>
          <p:cNvPr id="22" name="r22"/>
          <p:cNvSpPr/>
          <p:nvPr/>
        </p:nvSpPr>
        <p:spPr>
          <a:xfrm>
            <a:off x="6300000" y="2592000"/>
            <a:ext cx="5580000" cy="23400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>
            <a:solidFill>
              <a:srgbClr val="FFC107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443999" y="2664000"/>
            <a:ext cx="5400000" cy="223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7B5E00"/>
                </a:solidFill>
              </a:rPr>
              <a:t>Misol:  z = x²y + sin(xy)</a:t>
            </a:r>
          </a:p>
          <a:p>
            <a:pPr algn="left"/>
            <a:r>
              <a:rPr lang="uz-UZ" sz="800" b="0" i="0" dirty="0">
                <a:solidFill>
                  <a:srgbClr val="1A1A2E"/>
                </a:solidFill>
              </a:rPr>
              <a:t/>
            </a:r>
          </a:p>
          <a:p>
            <a:pPr algn="left"/>
            <a:r>
              <a:rPr lang="uz-UZ" sz="1500" b="1" i="0" dirty="0">
                <a:solidFill>
                  <a:srgbClr val="4A54C8"/>
                </a:solidFill>
              </a:rPr>
              <a:t>dz/dx = 2xy + y·cos(xy)</a:t>
            </a:r>
          </a:p>
          <a:p>
            <a:pPr algn="left"/>
            <a:r>
              <a:rPr lang="uz-UZ" sz="800" b="0" i="0" dirty="0">
                <a:solidFill>
                  <a:srgbClr val="1A1A2E"/>
                </a:solidFill>
              </a:rPr>
              <a:t/>
            </a:r>
          </a:p>
          <a:p>
            <a:pPr algn="left"/>
            <a:r>
              <a:rPr lang="uz-UZ" sz="1500" b="1" i="0" dirty="0">
                <a:solidFill>
                  <a:srgbClr val="764BA2"/>
                </a:solidFill>
              </a:rPr>
              <a:t>dz/dy = x² + x·cos(xy)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5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1.2. DIFFERENSIALLANUVCHILIK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11627999" cy="1152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11520000" cy="108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4A54C8"/>
                </a:solidFill>
              </a:rPr>
              <a:t>Ta'rif: f(x,y) funksiya  M0(x0,y0)  nuqtada differensiallanuvchi, agar:</a:t>
            </a:r>
          </a:p>
          <a:p>
            <a:pPr algn="left"/>
            <a:r>
              <a:rPr lang="uz-UZ" sz="1500" b="1" i="0" dirty="0">
                <a:solidFill>
                  <a:srgbClr val="1A1A2E"/>
                </a:solidFill>
              </a:rPr>
              <a:t>Df = A·Dx + B·Dy + o(r),    bu yerda  r = sqrt((Dx)² + (Dy)²)  →  0  da  o(r)/r → 0</a:t>
            </a:r>
          </a:p>
        </p:txBody>
      </p:sp>
      <p:sp>
        <p:nvSpPr>
          <p:cNvPr id="21" name="r21"/>
          <p:cNvSpPr/>
          <p:nvPr/>
        </p:nvSpPr>
        <p:spPr>
          <a:xfrm>
            <a:off x="288000" y="2448000"/>
            <a:ext cx="5580000" cy="1800000"/>
          </a:xfrm>
          <a:prstGeom prst="roundRect">
            <a:avLst>
              <a:gd name="adj" fmla="val 10000"/>
            </a:avLst>
          </a:prstGeom>
          <a:solidFill>
            <a:srgbClr val="D4EDDA"/>
          </a:solidFill>
          <a:ln>
            <a:solidFill>
              <a:srgbClr val="28A7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2520000"/>
            <a:ext cx="5400000" cy="1655999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155724"/>
                </a:solidFill>
              </a:rPr>
              <a:t>ZARURIY SHART (1-teorema):</a:t>
            </a:r>
          </a:p>
          <a:p>
            <a:pPr algn="left"/>
            <a:r>
              <a:rPr lang="uz-UZ" sz="1500" b="1" i="0" dirty="0">
                <a:solidFill>
                  <a:srgbClr val="155724"/>
                </a:solidFill>
              </a:rPr>
              <a:t>Differensiallanuvchi =&gt; UZLUKSIZ</a:t>
            </a:r>
          </a:p>
          <a:p>
            <a:pPr algn="left"/>
            <a:r>
              <a:rPr lang="uz-UZ" sz="800" b="0" i="0" dirty="0">
                <a:solidFill>
                  <a:srgbClr val="1A1A2E"/>
                </a:solidFill>
              </a:rPr>
              <a:t/>
            </a:r>
          </a:p>
          <a:p>
            <a:pPr algn="left"/>
            <a:r>
              <a:rPr lang="uz-UZ" sz="1400" b="1" i="0" dirty="0">
                <a:solidFill>
                  <a:srgbClr val="155724"/>
                </a:solidFill>
              </a:rPr>
              <a:t>ETARLI SHART (3-teorema):</a:t>
            </a:r>
          </a:p>
          <a:p>
            <a:pPr algn="left"/>
            <a:r>
              <a:rPr lang="uz-UZ" sz="1300" b="0" i="0" dirty="0">
                <a:solidFill>
                  <a:srgbClr val="155724"/>
                </a:solidFill>
              </a:rPr>
              <a:t>Barcha xususiy hosilalar mavjud va UZLUKSIZ =&gt; differensiallanuvchi</a:t>
            </a:r>
          </a:p>
        </p:txBody>
      </p:sp>
      <p:sp>
        <p:nvSpPr>
          <p:cNvPr id="22" name="r22"/>
          <p:cNvSpPr/>
          <p:nvPr/>
        </p:nvSpPr>
        <p:spPr>
          <a:xfrm>
            <a:off x="6300000" y="2448000"/>
            <a:ext cx="5580000" cy="1800000"/>
          </a:xfrm>
          <a:prstGeom prst="roundRect">
            <a:avLst>
              <a:gd name="adj" fmla="val 10000"/>
            </a:avLst>
          </a:prstGeom>
          <a:solidFill>
            <a:srgbClr val="FFE4E4"/>
          </a:solidFill>
          <a:ln>
            <a:solidFill>
              <a:srgbClr val="DC35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443999" y="2520000"/>
            <a:ext cx="5400000" cy="1655999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721C24"/>
                </a:solidFill>
              </a:rPr>
              <a:t>FARQ (bir va ko'p o'zgaruvchili):</a:t>
            </a:r>
          </a:p>
          <a:p>
            <a:pPr algn="left"/>
            <a:r>
              <a:rPr lang="uz-UZ" sz="1300" b="0" i="0" dirty="0">
                <a:solidFill>
                  <a:srgbClr val="721C24"/>
                </a:solidFill>
              </a:rPr>
              <a:t>Bir o'zgaruvchili: hosila mavjud &lt;=&gt; differensiallanuvchi</a:t>
            </a:r>
          </a:p>
          <a:p>
            <a:pPr algn="left"/>
            <a:r>
              <a:rPr lang="uz-UZ" sz="600" b="0" i="0" dirty="0">
                <a:solidFill>
                  <a:srgbClr val="1A1A2E"/>
                </a:solidFill>
              </a:rPr>
              <a:t/>
            </a:r>
          </a:p>
          <a:p>
            <a:pPr algn="left"/>
            <a:r>
              <a:rPr lang="uz-UZ" sz="1300" b="1" i="0" dirty="0">
                <a:solidFill>
                  <a:srgbClr val="721C24"/>
                </a:solidFill>
              </a:rPr>
              <a:t>Ko'p o'zgaruvchili: xususiy hosilalar mavjud =/=&gt; differensiallanuvchi!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6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1.3. TO'LIQ DIFFERENSIAL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11627999" cy="144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11520000" cy="136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4A54C8"/>
                </a:solidFill>
              </a:rPr>
              <a:t>Ta'rif: Funksiya orttirmasining chiziqli bosh qismi – TO'LIQ DIFFERENSIAL:</a:t>
            </a:r>
          </a:p>
          <a:p>
            <a:pPr algn="left"/>
            <a:r>
              <a:rPr lang="uz-UZ" sz="2000" b="1" i="0" dirty="0">
                <a:solidFill>
                  <a:srgbClr val="4A54C8"/>
                </a:solidFill>
              </a:rPr>
              <a:t>df  =  (df/dx)·dx  +  (df/dy)·dy  =  f'x·dx + f'y·dy</a:t>
            </a:r>
          </a:p>
          <a:p>
            <a:pPr algn="left"/>
            <a:r>
              <a:rPr lang="uz-UZ" sz="1300" b="0" i="1" dirty="0">
                <a:solidFill>
                  <a:srgbClr val="1A1A2E"/>
                </a:solidFill>
              </a:rPr>
              <a:t>Xususiy differensiallar yig'indisi:</a:t>
            </a:r>
          </a:p>
        </p:txBody>
      </p:sp>
      <p:sp>
        <p:nvSpPr>
          <p:cNvPr id="21" name="r21"/>
          <p:cNvSpPr/>
          <p:nvPr/>
        </p:nvSpPr>
        <p:spPr>
          <a:xfrm>
            <a:off x="288000" y="2772000"/>
            <a:ext cx="5580000" cy="19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2844000"/>
            <a:ext cx="5400000" cy="187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764BA2"/>
                </a:solidFill>
              </a:rPr>
              <a:t>Geometrik ma'no: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df – z = f(x,y) sirtga M0 nuqtasida</a:t>
            </a:r>
          </a:p>
          <a:p>
            <a:pPr algn="left"/>
            <a:r>
              <a:rPr lang="uz-UZ" sz="1400" b="1" i="0" dirty="0">
                <a:solidFill>
                  <a:srgbClr val="764BA2"/>
                </a:solidFill>
              </a:rPr>
              <a:t>o'tkazilgan URINMA TEKISLIK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aplikatasining orttirmasi.</a:t>
            </a:r>
          </a:p>
        </p:txBody>
      </p:sp>
      <p:sp>
        <p:nvSpPr>
          <p:cNvPr id="22" name="r22"/>
          <p:cNvSpPr/>
          <p:nvPr/>
        </p:nvSpPr>
        <p:spPr>
          <a:xfrm>
            <a:off x="6300000" y="2772000"/>
            <a:ext cx="5580000" cy="19800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>
            <a:solidFill>
              <a:srgbClr val="FFC107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443999" y="2844000"/>
            <a:ext cx="5400000" cy="187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7B5E00"/>
                </a:solidFill>
              </a:rPr>
              <a:t>Misol:  z = x³ + xy²  da  M(1, 2):</a:t>
            </a:r>
          </a:p>
          <a:p>
            <a:pPr algn="left"/>
            <a:r>
              <a:rPr lang="uz-UZ" sz="1400" b="1" i="0" dirty="0">
                <a:solidFill>
                  <a:srgbClr val="4A54C8"/>
                </a:solidFill>
              </a:rPr>
              <a:t>f'x = 3x² + y² = 3+4 = 7</a:t>
            </a:r>
          </a:p>
          <a:p>
            <a:pPr algn="left"/>
            <a:r>
              <a:rPr lang="uz-UZ" sz="1400" b="1" i="0" dirty="0">
                <a:solidFill>
                  <a:srgbClr val="4A54C8"/>
                </a:solidFill>
              </a:rPr>
              <a:t>f'y = 2xy = 2·1·2 = 4</a:t>
            </a:r>
          </a:p>
          <a:p>
            <a:pPr algn="left"/>
            <a:r>
              <a:rPr lang="uz-UZ" sz="1600" b="1" i="0" dirty="0">
                <a:solidFill>
                  <a:srgbClr val="764BA2"/>
                </a:solidFill>
              </a:rPr>
              <a:t>dz = 7dx + 4dy</a:t>
            </a:r>
          </a:p>
        </p:txBody>
      </p:sp>
      <p:sp>
        <p:nvSpPr>
          <p:cNvPr id="23" name="r23"/>
          <p:cNvSpPr/>
          <p:nvPr/>
        </p:nvSpPr>
        <p:spPr>
          <a:xfrm>
            <a:off x="288000" y="4932000"/>
            <a:ext cx="11627999" cy="54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764BA2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4986000"/>
            <a:ext cx="11520000" cy="46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400" b="1" i="0" dirty="0">
                <a:solidFill>
                  <a:srgbClr val="764BA2"/>
                </a:solidFill>
              </a:rPr>
              <a:t>Differensial shaklining invariantligi: df = f'x·dx + f'y·dy – murakkab funksiyada ham o'rinli!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7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1.4. YUQORI TARTIBLI HOSILALAR VA SHVARTS TEOREMASI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11627999" cy="108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11520000" cy="1007999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4A54C8"/>
                </a:solidFill>
              </a:rPr>
              <a:t>Ikkinchi tartibli xususiy hosilalar:</a:t>
            </a:r>
          </a:p>
          <a:p>
            <a:pPr algn="left"/>
            <a:r>
              <a:rPr lang="uz-UZ" sz="1500" b="1" i="0" dirty="0">
                <a:solidFill>
                  <a:srgbClr val="1A1A2E"/>
                </a:solidFill>
              </a:rPr>
              <a:t>f''xx = d²f/dx²     f''yy = d²f/dy²     f''xy = d²f/dxdy     f''yx = d²f/dydx</a:t>
            </a:r>
          </a:p>
        </p:txBody>
      </p:sp>
      <p:sp>
        <p:nvSpPr>
          <p:cNvPr id="21" name="r21"/>
          <p:cNvSpPr/>
          <p:nvPr/>
        </p:nvSpPr>
        <p:spPr>
          <a:xfrm>
            <a:off x="288000" y="2412000"/>
            <a:ext cx="11627999" cy="1260000"/>
          </a:xfrm>
          <a:prstGeom prst="roundRect">
            <a:avLst>
              <a:gd name="adj" fmla="val 10000"/>
            </a:avLst>
          </a:prstGeom>
          <a:solidFill>
            <a:srgbClr val="D4EDDA"/>
          </a:solidFill>
          <a:ln>
            <a:solidFill>
              <a:srgbClr val="28A7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2484000"/>
            <a:ext cx="11520000" cy="115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600" b="1" i="0" dirty="0">
                <a:solidFill>
                  <a:srgbClr val="155724"/>
                </a:solidFill>
              </a:rPr>
              <a:t>SHVARTS TEOREMASI (aralash hosilalar tenglik):</a:t>
            </a:r>
          </a:p>
          <a:p>
            <a:pPr algn="left"/>
            <a:r>
              <a:rPr lang="uz-UZ" sz="1800" b="1" i="0" dirty="0">
                <a:solidFill>
                  <a:srgbClr val="155724"/>
                </a:solidFill>
              </a:rPr>
              <a:t>Agar f''xy va f''yx uzluksiz bo'lsa:   f''xy = f''yx</a:t>
            </a:r>
          </a:p>
          <a:p>
            <a:pPr algn="left"/>
            <a:r>
              <a:rPr lang="uz-UZ" sz="1400" b="0" i="1" dirty="0">
                <a:solidFill>
                  <a:srgbClr val="155724"/>
                </a:solidFill>
              </a:rPr>
              <a:t>Ya'ni: hosilalar olish tartibi muhim emas!</a:t>
            </a:r>
          </a:p>
        </p:txBody>
      </p:sp>
      <p:sp>
        <p:nvSpPr>
          <p:cNvPr id="22" name="r22"/>
          <p:cNvSpPr/>
          <p:nvPr/>
        </p:nvSpPr>
        <p:spPr>
          <a:xfrm>
            <a:off x="288000" y="3851999"/>
            <a:ext cx="11627999" cy="14400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>
            <a:solidFill>
              <a:srgbClr val="FFC107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3924000"/>
            <a:ext cx="11520000" cy="136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7B5E00"/>
                </a:solidFill>
              </a:rPr>
              <a:t>Misol:  z = x²y³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f'x = 2xy³        f'y = 3x²y²</a:t>
            </a:r>
          </a:p>
          <a:p>
            <a:pPr algn="left"/>
            <a:r>
              <a:rPr lang="uz-UZ" sz="1500" b="1" i="0" dirty="0">
                <a:solidFill>
                  <a:srgbClr val="28A745"/>
                </a:solidFill>
              </a:rPr>
              <a:t>f''xy = 6xy²      f''yx = 6xy²     =&gt;   f''xy = f''yx  ✓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8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2.1. TO'LIQ DIFFERENSIALNING TAQRIBIY HISOBLASHGA TADBIQI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11627999" cy="108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11520000" cy="1007999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4A54C8"/>
                </a:solidFill>
              </a:rPr>
              <a:t>Asosiy formula: funksiya orttirmasini differensial bilan almashtirish:</a:t>
            </a:r>
          </a:p>
          <a:p>
            <a:pPr algn="left"/>
            <a:r>
              <a:rPr lang="uz-UZ" sz="1600" b="1" i="0" dirty="0">
                <a:solidFill>
                  <a:srgbClr val="4A54C8"/>
                </a:solidFill>
              </a:rPr>
              <a:t>f(x,y) ≈ f(x0,y0) + f'x(x0,y0)·(x-x0) + f'y(x0,y0)·(y-y0)</a:t>
            </a:r>
          </a:p>
        </p:txBody>
      </p:sp>
      <p:sp>
        <p:nvSpPr>
          <p:cNvPr id="30" name="r30"/>
          <p:cNvSpPr/>
          <p:nvPr/>
        </p:nvSpPr>
        <p:spPr>
          <a:xfrm>
            <a:off x="288000" y="2520000"/>
            <a:ext cx="11627999" cy="68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2556000"/>
            <a:ext cx="11520000" cy="61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1°  Funksiya tanlash:  f(x,y) = arctan(x/y - 1),    x=1.98,  y=1.03</a:t>
            </a:r>
          </a:p>
        </p:txBody>
      </p:sp>
      <p:sp>
        <p:nvSpPr>
          <p:cNvPr id="31" name="r31"/>
          <p:cNvSpPr/>
          <p:nvPr/>
        </p:nvSpPr>
        <p:spPr>
          <a:xfrm>
            <a:off x="288000" y="3276000"/>
            <a:ext cx="11627999" cy="68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3312000"/>
            <a:ext cx="11520000" cy="61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2°  x0, y0 tanlash:  Qulaylik uchun:  x0=2,  y0=1  tanlanadi</a:t>
            </a:r>
          </a:p>
        </p:txBody>
      </p:sp>
      <p:sp>
        <p:nvSpPr>
          <p:cNvPr id="32" name="r32"/>
          <p:cNvSpPr/>
          <p:nvPr/>
        </p:nvSpPr>
        <p:spPr>
          <a:xfrm>
            <a:off x="288000" y="4031999"/>
            <a:ext cx="11627999" cy="68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28A7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4067999"/>
            <a:ext cx="11520000" cy="61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3°  f(x0,y0) hisoblash:  f(2,1) = arctan(2/1 - 1) = arctan(1) = p/4 = 0.785</a:t>
            </a:r>
          </a:p>
        </p:txBody>
      </p:sp>
      <p:sp>
        <p:nvSpPr>
          <p:cNvPr id="33" name="r33"/>
          <p:cNvSpPr/>
          <p:nvPr/>
        </p:nvSpPr>
        <p:spPr>
          <a:xfrm>
            <a:off x="288000" y="4788000"/>
            <a:ext cx="11627999" cy="68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28A7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4824000"/>
            <a:ext cx="11520000" cy="61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4°  Hosilalar topish:  f'x(2,1) = 0.5     f'y(2,1) = -1</a:t>
            </a:r>
          </a:p>
        </p:txBody>
      </p:sp>
      <p:sp>
        <p:nvSpPr>
          <p:cNvPr id="34" name="r34"/>
          <p:cNvSpPr/>
          <p:nvPr/>
        </p:nvSpPr>
        <p:spPr>
          <a:xfrm>
            <a:off x="288000" y="5544000"/>
            <a:ext cx="11627999" cy="68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764BA2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5580000"/>
            <a:ext cx="11520000" cy="61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300" b="1" i="0" dirty="0">
                <a:solidFill>
                  <a:srgbClr val="1A1A2E"/>
                </a:solidFill>
              </a:rPr>
              <a:t>5°  Natija:  arctan(1.98/1.03 - 1) ≈ 0.785 + 0.5·(-0.02) + (-1)·(0.03) = 0.745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9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2.2. YO'NALISH BO'YICHA HOSILA VA GRADIENT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11627999" cy="1152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11520000" cy="108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4A54C8"/>
                </a:solidFill>
              </a:rPr>
              <a:t>Ta'rif: f funksiyaning l yo'nalish bo'yicha hosilasi:</a:t>
            </a:r>
          </a:p>
          <a:p>
            <a:pPr algn="left"/>
            <a:r>
              <a:rPr lang="uz-UZ" sz="1600" b="1" i="0" dirty="0">
                <a:solidFill>
                  <a:srgbClr val="1A1A2E"/>
                </a:solidFill>
              </a:rPr>
              <a:t>df/dl = lim [f(M) - f(M0)] / r     (r -&gt; 0)</a:t>
            </a:r>
          </a:p>
          <a:p>
            <a:pPr algn="left"/>
            <a:r>
              <a:rPr lang="uz-UZ" sz="1500" b="1" i="0" dirty="0">
                <a:solidFill>
                  <a:srgbClr val="4A54C8"/>
                </a:solidFill>
              </a:rPr>
              <a:t>Hisoblash:  df/dl = f'x·cos(a) + f'y·cos(b)</a:t>
            </a:r>
          </a:p>
        </p:txBody>
      </p:sp>
      <p:sp>
        <p:nvSpPr>
          <p:cNvPr id="21" name="r21"/>
          <p:cNvSpPr/>
          <p:nvPr/>
        </p:nvSpPr>
        <p:spPr>
          <a:xfrm>
            <a:off x="288000" y="2484000"/>
            <a:ext cx="5580000" cy="216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2556000"/>
            <a:ext cx="5400000" cy="208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600" b="1" i="0" dirty="0">
                <a:solidFill>
                  <a:srgbClr val="4A54C8"/>
                </a:solidFill>
              </a:rPr>
              <a:t>GRADIENT:</a:t>
            </a:r>
          </a:p>
          <a:p>
            <a:pPr algn="left"/>
            <a:r>
              <a:rPr lang="uz-UZ" sz="1800" b="1" i="0" dirty="0">
                <a:solidFill>
                  <a:srgbClr val="4A54C8"/>
                </a:solidFill>
              </a:rPr>
              <a:t>grad f = (f'x, f'y)</a:t>
            </a:r>
          </a:p>
          <a:p>
            <a:pPr algn="left"/>
            <a:r>
              <a:rPr lang="uz-UZ" sz="800" b="0" i="0" dirty="0">
                <a:solidFill>
                  <a:srgbClr val="1A1A2E"/>
                </a:solidFill>
              </a:rPr>
              <a:t/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Funksiyaning ENG TEZ O'SISH yo'nalishi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Sath egri chiziqlariga perpendikulyar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|grad f| – eng katta o'zgarish tezligi</a:t>
            </a:r>
          </a:p>
        </p:txBody>
      </p:sp>
      <p:sp>
        <p:nvSpPr>
          <p:cNvPr id="22" name="r22"/>
          <p:cNvSpPr/>
          <p:nvPr/>
        </p:nvSpPr>
        <p:spPr>
          <a:xfrm>
            <a:off x="6300000" y="2484000"/>
            <a:ext cx="5580000" cy="21600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>
            <a:solidFill>
              <a:srgbClr val="FFC107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443999" y="2556000"/>
            <a:ext cx="5400000" cy="208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7B5E00"/>
                </a:solidFill>
              </a:rPr>
              <a:t>Amaliy ma'no: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Harorat T(x,y,z) uchun: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  =&gt; grad T – issiqlik oqimi yo'nalishi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Bosim P(x,y) uchun: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  =&gt; grad P – shamol yo'nalishi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Balandlik h(x,y) uchun: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  =&gt; grad h – eng tik ko'tarilish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10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2.3. TEYLOR FORMULASI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11627999" cy="144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11520000" cy="136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4A54C8"/>
                </a:solidFill>
              </a:rPr>
              <a:t>Ko'p o'zgaruvchili funksiya uchun Teylor formulasi:</a:t>
            </a:r>
          </a:p>
          <a:p>
            <a:pPr algn="left"/>
            <a:r>
              <a:rPr lang="uz-UZ" sz="1500" b="1" i="0" dirty="0">
                <a:solidFill>
                  <a:srgbClr val="1A1A2E"/>
                </a:solidFill>
              </a:rPr>
              <a:t>f(x,y) = f(x0,y0) + df + (1/2!)d²f + ... + (1/n!)d^n f(xi,eta) + Rn</a:t>
            </a:r>
          </a:p>
          <a:p>
            <a:pPr algn="left"/>
            <a:r>
              <a:rPr lang="uz-UZ" sz="1300" b="0" i="1" dirty="0">
                <a:solidFill>
                  <a:srgbClr val="1A1A2E"/>
                </a:solidFill>
              </a:rPr>
              <a:t>bu yerda:  df – birinchi,  d²f – ikkinchi tartibli differensial</a:t>
            </a:r>
          </a:p>
        </p:txBody>
      </p:sp>
      <p:sp>
        <p:nvSpPr>
          <p:cNvPr id="21" name="r21"/>
          <p:cNvSpPr/>
          <p:nvPr/>
        </p:nvSpPr>
        <p:spPr>
          <a:xfrm>
            <a:off x="288000" y="2772000"/>
            <a:ext cx="11627999" cy="12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2844000"/>
            <a:ext cx="11520000" cy="118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764BA2"/>
                </a:solidFill>
              </a:rPr>
              <a:t>Ikkinchi tartibli yoyilma:</a:t>
            </a:r>
          </a:p>
          <a:p>
            <a:pPr algn="left"/>
            <a:r>
              <a:rPr lang="uz-UZ" sz="1400" b="1" i="0" dirty="0">
                <a:solidFill>
                  <a:srgbClr val="764BA2"/>
                </a:solidFill>
              </a:rPr>
              <a:t>f(x,y) ≈ f(x0,y0) + f'x·Dx + f'y·Dy + (1/2)(f''xx·Dx² + 2f''xy·Dx·Dy + f''yy·Dy²)</a:t>
            </a:r>
          </a:p>
        </p:txBody>
      </p:sp>
      <p:sp>
        <p:nvSpPr>
          <p:cNvPr id="22" name="r22"/>
          <p:cNvSpPr/>
          <p:nvPr/>
        </p:nvSpPr>
        <p:spPr>
          <a:xfrm>
            <a:off x="288000" y="4212000"/>
            <a:ext cx="11627999" cy="10800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>
            <a:solidFill>
              <a:srgbClr val="FFC107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4284000"/>
            <a:ext cx="11520000" cy="1007999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7B5E00"/>
                </a:solidFill>
              </a:rPr>
              <a:t>Misol: z = ln(x+y)  uchun (birinchi va ikkinchi tartibli hosilalar bilan):</a:t>
            </a:r>
          </a:p>
          <a:p>
            <a:pPr algn="left"/>
            <a:r>
              <a:rPr lang="uz-UZ" sz="1400" b="1" i="0" dirty="0">
                <a:solidFill>
                  <a:srgbClr val="4A54C8"/>
                </a:solidFill>
              </a:rPr>
              <a:t>Dz ≈ (Dx+Dy)/(x+y) - (1/2)·((Dx+Dy)/(x+y))²</a:t>
            </a:r>
          </a:p>
        </p:txBody>
      </p:sp>
      <p:sp>
        <p:nvSpPr>
          <p:cNvPr id="23" name="r23"/>
          <p:cNvSpPr/>
          <p:nvPr/>
        </p:nvSpPr>
        <p:spPr>
          <a:xfrm>
            <a:off x="288000" y="5472000"/>
            <a:ext cx="11627999" cy="540000"/>
          </a:xfrm>
          <a:prstGeom prst="roundRect">
            <a:avLst>
              <a:gd name="adj" fmla="val 10000"/>
            </a:avLst>
          </a:prstGeom>
          <a:solidFill>
            <a:srgbClr val="D4EDDA"/>
          </a:solidFill>
          <a:ln>
            <a:solidFill>
              <a:srgbClr val="28A7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5526000"/>
            <a:ext cx="11520000" cy="46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400" b="1" i="0" dirty="0">
                <a:solidFill>
                  <a:srgbClr val="155724"/>
                </a:solidFill>
              </a:rPr>
              <a:t>Ahamiyati: Murakkab funksiyalarni ko'phad bilan almashtirish, xatolarni baholash, hisoblashni soddalashtirish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11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2.4. EKSTREMUM – ZARURIY SHART (FERMA TEOREMASI)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11627999" cy="126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11520000" cy="118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4A54C8"/>
                </a:solidFill>
              </a:rPr>
              <a:t>Ta'riflar: M0 nuqtada f funksiyaning:</a:t>
            </a:r>
          </a:p>
          <a:p>
            <a:pPr algn="left"/>
            <a:r>
              <a:rPr lang="uz-UZ" sz="1400" b="1" i="0" dirty="0">
                <a:solidFill>
                  <a:srgbClr val="1A1A2E"/>
                </a:solidFill>
              </a:rPr>
              <a:t>MAKSIMUM: atrofida f(M) &lt; f(M0)    |    MINIMUM: atrofida f(M) &gt; f(M0)</a:t>
            </a:r>
          </a:p>
        </p:txBody>
      </p:sp>
      <p:sp>
        <p:nvSpPr>
          <p:cNvPr id="21" name="r21"/>
          <p:cNvSpPr/>
          <p:nvPr/>
        </p:nvSpPr>
        <p:spPr>
          <a:xfrm>
            <a:off x="288000" y="2592000"/>
            <a:ext cx="11627999" cy="1260000"/>
          </a:xfrm>
          <a:prstGeom prst="roundRect">
            <a:avLst>
              <a:gd name="adj" fmla="val 10000"/>
            </a:avLst>
          </a:prstGeom>
          <a:solidFill>
            <a:srgbClr val="D4EDDA"/>
          </a:solidFill>
          <a:ln>
            <a:solidFill>
              <a:srgbClr val="28A7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2664000"/>
            <a:ext cx="11520000" cy="115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155724"/>
                </a:solidFill>
              </a:rPr>
              <a:t>ZARURIY SHART (1-teorema – Ferma analogiyasi):</a:t>
            </a:r>
          </a:p>
          <a:p>
            <a:pPr algn="left"/>
            <a:r>
              <a:rPr lang="uz-UZ" sz="1300" b="0" i="0" dirty="0">
                <a:solidFill>
                  <a:srgbClr val="155724"/>
                </a:solidFill>
              </a:rPr>
              <a:t>f(x,y) M0 nuqtada ekstremumga erishsa va xususiy hosilalar mavjud bo'lsa:</a:t>
            </a:r>
          </a:p>
          <a:p>
            <a:pPr algn="left"/>
            <a:r>
              <a:rPr lang="uz-UZ" sz="1600" b="1" i="0" dirty="0">
                <a:solidFill>
                  <a:srgbClr val="155724"/>
                </a:solidFill>
              </a:rPr>
              <a:t>f'x(M0) = 0    va    f'y(M0) = 0      =&gt;   STATSIONAR NUQTA</a:t>
            </a:r>
          </a:p>
        </p:txBody>
      </p:sp>
      <p:sp>
        <p:nvSpPr>
          <p:cNvPr id="22" name="r22"/>
          <p:cNvSpPr/>
          <p:nvPr/>
        </p:nvSpPr>
        <p:spPr>
          <a:xfrm>
            <a:off x="288000" y="4031999"/>
            <a:ext cx="11627999" cy="16200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>
            <a:solidFill>
              <a:srgbClr val="FFC107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4104000"/>
            <a:ext cx="11520000" cy="154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7B5E00"/>
                </a:solidFill>
              </a:rPr>
              <a:t>Misol:  z = x² + y² - 4x - 6y + 5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f'x = 2x - 4 = 0   =&gt;   x = 2</a:t>
            </a:r>
          </a:p>
          <a:p>
            <a:pPr algn="left"/>
            <a:r>
              <a:rPr lang="uz-UZ" sz="1400" b="0" i="0" dirty="0">
                <a:solidFill>
                  <a:srgbClr val="1A1A2E"/>
                </a:solidFill>
              </a:rPr>
              <a:t>f'y = 2y - 6 = 0   =&gt;   y = 3</a:t>
            </a:r>
          </a:p>
          <a:p>
            <a:pPr algn="left"/>
            <a:r>
              <a:rPr lang="uz-UZ" sz="1400" b="1" i="0" dirty="0">
                <a:solidFill>
                  <a:srgbClr val="764BA2"/>
                </a:solidFill>
              </a:rPr>
              <a:t>Statsionar nuqta:   M0(2, 3)  – keyingi slaydda tekshiriladi!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12</a:t>
            </a:r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2.4. EKSTREMUM – ETARLI SHART (SILVESTR ALOMATI)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52000"/>
            <a:ext cx="11627999" cy="72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11520000" cy="64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600" b="1" i="0" dirty="0">
                <a:solidFill>
                  <a:srgbClr val="4A54C8"/>
                </a:solidFill>
              </a:rPr>
              <a:t>A = f''xx(M0),    B = f''xy(M0),    C = f''yy(M0),    D = A·C - B²</a:t>
            </a:r>
          </a:p>
        </p:txBody>
      </p:sp>
      <p:sp>
        <p:nvSpPr>
          <p:cNvPr id="30" name="r30"/>
          <p:cNvSpPr/>
          <p:nvPr/>
        </p:nvSpPr>
        <p:spPr>
          <a:xfrm>
            <a:off x="288000" y="2052000"/>
            <a:ext cx="5580000" cy="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28A7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2160000"/>
            <a:ext cx="5400000" cy="7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1A1A2E"/>
                </a:solidFill>
              </a:rPr>
              <a:t>D &gt; 0  va  A &gt; 0</a:t>
            </a:r>
          </a:p>
        </p:txBody>
      </p:sp>
      <p:sp>
        <p:nvSpPr>
          <p:cNvPr id="40" name="r40"/>
          <p:cNvSpPr/>
          <p:nvPr/>
        </p:nvSpPr>
        <p:spPr>
          <a:xfrm>
            <a:off x="6300000" y="2052000"/>
            <a:ext cx="5580000" cy="900000"/>
          </a:xfrm>
          <a:prstGeom prst="roundRect">
            <a:avLst>
              <a:gd name="adj" fmla="val 10000"/>
            </a:avLst>
          </a:prstGeom>
          <a:solidFill>
            <a:srgbClr val="D4EDDA"/>
          </a:solidFill>
          <a:ln>
            <a:solidFill>
              <a:srgbClr val="28A7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443999" y="2160000"/>
            <a:ext cx="5400000" cy="7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155724"/>
                </a:solidFill>
              </a:rPr>
              <a:t>MINIMUM</a:t>
            </a:r>
          </a:p>
        </p:txBody>
      </p:sp>
      <p:sp>
        <p:nvSpPr>
          <p:cNvPr id="31" name="r31"/>
          <p:cNvSpPr/>
          <p:nvPr/>
        </p:nvSpPr>
        <p:spPr>
          <a:xfrm>
            <a:off x="288000" y="3060000"/>
            <a:ext cx="5580000" cy="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28A7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3168000"/>
            <a:ext cx="5400000" cy="7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1A1A2E"/>
                </a:solidFill>
              </a:rPr>
              <a:t>D &gt; 0  va  A &lt; 0</a:t>
            </a:r>
          </a:p>
        </p:txBody>
      </p:sp>
      <p:sp>
        <p:nvSpPr>
          <p:cNvPr id="41" name="r41"/>
          <p:cNvSpPr/>
          <p:nvPr/>
        </p:nvSpPr>
        <p:spPr>
          <a:xfrm>
            <a:off x="6300000" y="3060000"/>
            <a:ext cx="5580000" cy="900000"/>
          </a:xfrm>
          <a:prstGeom prst="roundRect">
            <a:avLst>
              <a:gd name="adj" fmla="val 10000"/>
            </a:avLst>
          </a:prstGeom>
          <a:solidFill>
            <a:srgbClr val="D4EDDA"/>
          </a:solidFill>
          <a:ln>
            <a:solidFill>
              <a:srgbClr val="28A7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443999" y="3168000"/>
            <a:ext cx="5400000" cy="7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155724"/>
                </a:solidFill>
              </a:rPr>
              <a:t>MAKSIMUM</a:t>
            </a:r>
          </a:p>
        </p:txBody>
      </p:sp>
      <p:sp>
        <p:nvSpPr>
          <p:cNvPr id="32" name="r32"/>
          <p:cNvSpPr/>
          <p:nvPr/>
        </p:nvSpPr>
        <p:spPr>
          <a:xfrm>
            <a:off x="288000" y="4068000"/>
            <a:ext cx="5580000" cy="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35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4176000"/>
            <a:ext cx="5400000" cy="7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1A1A2E"/>
                </a:solidFill>
              </a:rPr>
              <a:t>D &lt; 0</a:t>
            </a:r>
          </a:p>
        </p:txBody>
      </p:sp>
      <p:sp>
        <p:nvSpPr>
          <p:cNvPr id="42" name="r42"/>
          <p:cNvSpPr/>
          <p:nvPr/>
        </p:nvSpPr>
        <p:spPr>
          <a:xfrm>
            <a:off x="6300000" y="4068000"/>
            <a:ext cx="5580000" cy="900000"/>
          </a:xfrm>
          <a:prstGeom prst="roundRect">
            <a:avLst>
              <a:gd name="adj" fmla="val 10000"/>
            </a:avLst>
          </a:prstGeom>
          <a:solidFill>
            <a:srgbClr val="FFE4E4"/>
          </a:solidFill>
          <a:ln>
            <a:solidFill>
              <a:srgbClr val="DC3545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443999" y="4176000"/>
            <a:ext cx="5400000" cy="7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721C24"/>
                </a:solidFill>
              </a:rPr>
              <a:t>EKSTREMUM YO'Q (egari nuqta)</a:t>
            </a:r>
          </a:p>
        </p:txBody>
      </p:sp>
      <p:sp>
        <p:nvSpPr>
          <p:cNvPr id="33" name="r33"/>
          <p:cNvSpPr/>
          <p:nvPr/>
        </p:nvSpPr>
        <p:spPr>
          <a:xfrm>
            <a:off x="288000" y="5075999"/>
            <a:ext cx="5580000" cy="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FFC107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5183999"/>
            <a:ext cx="5400000" cy="7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1A1A2E"/>
                </a:solidFill>
              </a:rPr>
              <a:t>D = 0</a:t>
            </a:r>
          </a:p>
        </p:txBody>
      </p:sp>
      <p:sp>
        <p:nvSpPr>
          <p:cNvPr id="43" name="r43"/>
          <p:cNvSpPr/>
          <p:nvPr/>
        </p:nvSpPr>
        <p:spPr>
          <a:xfrm>
            <a:off x="6300000" y="5075999"/>
            <a:ext cx="5580000" cy="9000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>
            <a:solidFill>
              <a:srgbClr val="FFC107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443999" y="5183999"/>
            <a:ext cx="5400000" cy="72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7B5E00"/>
                </a:solidFill>
              </a:rPr>
              <a:t>SHUBHALI – qo'shimcha tekshirish kerak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13</a:t>
            </a:r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AMALIY TATBIQLAR</a:t>
            </a:r>
          </a:p>
        </p:txBody>
      </p:sp>
      <p:sp>
        <p:nvSpPr>
          <p:cNvPr id="30" name="r30"/>
          <p:cNvSpPr/>
          <p:nvPr/>
        </p:nvSpPr>
        <p:spPr>
          <a:xfrm>
            <a:off x="288000" y="1260000"/>
            <a:ext cx="5652000" cy="252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50" name="r50"/>
          <p:cNvSpPr/>
          <p:nvPr/>
        </p:nvSpPr>
        <p:spPr>
          <a:xfrm>
            <a:off x="288000" y="1260000"/>
            <a:ext cx="5652000" cy="648000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396000" y="1332000"/>
            <a:ext cx="5472000" cy="54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FFFFFF"/>
                </a:solidFill>
              </a:rPr>
              <a:t>FIZIKA</a:t>
            </a:r>
          </a:p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980000"/>
            <a:ext cx="5400000" cy="180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Harorat taqsimoti T(x,y,z)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Elektr maydoni potensiali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Suyuqlik oqimi tezligi</a:t>
            </a:r>
          </a:p>
        </p:txBody>
      </p:sp>
      <p:sp>
        <p:nvSpPr>
          <p:cNvPr id="31" name="r31"/>
          <p:cNvSpPr/>
          <p:nvPr/>
        </p:nvSpPr>
        <p:spPr>
          <a:xfrm>
            <a:off x="6228000" y="1260000"/>
            <a:ext cx="5652000" cy="252000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>
            <a:solidFill>
              <a:srgbClr val="764BA2"/>
            </a:solidFill>
          </a:ln>
        </p:spPr>
        <p:txBody>
          <a:bodyPr/>
          <a:lstStyle/>
        </p:txBody>
      </p:sp>
      <p:sp>
        <p:nvSpPr>
          <p:cNvPr id="51" name="r51"/>
          <p:cNvSpPr/>
          <p:nvPr/>
        </p:nvSpPr>
        <p:spPr>
          <a:xfrm>
            <a:off x="6228000" y="1260000"/>
            <a:ext cx="5652000" cy="648000"/>
          </a:xfrm>
          <a:prstGeom prst="rect">
            <a:avLst/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336000" y="1332000"/>
            <a:ext cx="5472000" cy="54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FFFFFF"/>
                </a:solidFill>
              </a:rPr>
              <a:t>IQTISODIYOT</a:t>
            </a:r>
          </a:p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372000" y="1980000"/>
            <a:ext cx="5400000" cy="180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Foyda funksiyasini maksimallashtirish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Xarajatlarni minimallashtirish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Elastiklik koeffitsientlari</a:t>
            </a:r>
          </a:p>
        </p:txBody>
      </p:sp>
      <p:sp>
        <p:nvSpPr>
          <p:cNvPr id="32" name="r32"/>
          <p:cNvSpPr/>
          <p:nvPr/>
        </p:nvSpPr>
        <p:spPr>
          <a:xfrm>
            <a:off x="288000" y="3960000"/>
            <a:ext cx="5652000" cy="2520000"/>
          </a:xfrm>
          <a:prstGeom prst="roundRect">
            <a:avLst>
              <a:gd name="adj" fmla="val 10000"/>
            </a:avLst>
          </a:prstGeom>
          <a:solidFill>
            <a:srgbClr val="D4EDDA"/>
          </a:solidFill>
          <a:ln>
            <a:solidFill>
              <a:srgbClr val="1A7E4A"/>
            </a:solidFill>
          </a:ln>
        </p:spPr>
        <p:txBody>
          <a:bodyPr/>
          <a:lstStyle/>
        </p:txBody>
      </p:sp>
      <p:sp>
        <p:nvSpPr>
          <p:cNvPr id="52" name="r52"/>
          <p:cNvSpPr/>
          <p:nvPr/>
        </p:nvSpPr>
        <p:spPr>
          <a:xfrm>
            <a:off x="288000" y="3960000"/>
            <a:ext cx="5652000" cy="648000"/>
          </a:xfrm>
          <a:prstGeom prst="rect">
            <a:avLst/>
          </a:prstGeom>
          <a:solidFill>
            <a:srgbClr val="1A7E4A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396000" y="4032000"/>
            <a:ext cx="5472000" cy="54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FFFFFF"/>
                </a:solidFill>
              </a:rPr>
              <a:t>MUHANDISLIK</a:t>
            </a:r>
          </a:p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4680000"/>
            <a:ext cx="5400000" cy="180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Konstruksiyalarni optimallashtirish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3D modellashtirish va CAD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Issiqlik o'tkazuvchanlik hisoblari</a:t>
            </a:r>
          </a:p>
        </p:txBody>
      </p:sp>
      <p:sp>
        <p:nvSpPr>
          <p:cNvPr id="33" name="r33"/>
          <p:cNvSpPr/>
          <p:nvPr/>
        </p:nvSpPr>
        <p:spPr>
          <a:xfrm>
            <a:off x="6228000" y="3960000"/>
            <a:ext cx="5652000" cy="25200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>
            <a:solidFill>
              <a:srgbClr val="B8500A"/>
            </a:solidFill>
          </a:ln>
        </p:spPr>
        <p:txBody>
          <a:bodyPr/>
          <a:lstStyle/>
        </p:txBody>
      </p:sp>
      <p:sp>
        <p:nvSpPr>
          <p:cNvPr id="53" name="r53"/>
          <p:cNvSpPr/>
          <p:nvPr/>
        </p:nvSpPr>
        <p:spPr>
          <a:xfrm>
            <a:off x="6228000" y="3960000"/>
            <a:ext cx="5652000" cy="648000"/>
          </a:xfrm>
          <a:prstGeom prst="rect">
            <a:avLst/>
          </a:prstGeom>
          <a:solidFill>
            <a:srgbClr val="B8500A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336000" y="4032000"/>
            <a:ext cx="5472000" cy="54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500" b="1" i="0" dirty="0">
                <a:solidFill>
                  <a:srgbClr val="FFFFFF"/>
                </a:solidFill>
              </a:rPr>
              <a:t>SUNI INTELLEKT</a:t>
            </a:r>
          </a:p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372000" y="4680000"/>
            <a:ext cx="5400000" cy="180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Eng kichik kvadratlar usuli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Gradient tushish algoritmi</a:t>
            </a:r>
          </a:p>
          <a:p>
            <a:pPr algn="left"/>
            <a:r>
              <a:rPr lang="uz-UZ" sz="1300" b="0" i="0" dirty="0">
                <a:solidFill>
                  <a:srgbClr val="1A1A2E"/>
                </a:solidFill>
              </a:rPr>
              <a:t>• Neyron tarmoqlarni o'rgatish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14</a:t>
            </a:r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</p:txBody>
      </p:sp>
      <p:sp>
        <p:nvSpPr>
          <p:cNvPr id="11" name="r1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288000" y="108000"/>
            <a:ext cx="11520000" cy="792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2800" b="1" i="0" dirty="0">
                <a:solidFill>
                  <a:srgbClr val="FFFFFF"/>
                </a:solidFill>
              </a:rPr>
              <a:t>XULOSA</a:t>
            </a:r>
          </a:p>
        </p:txBody>
      </p:sp>
      <p:sp>
        <p:nvSpPr>
          <p:cNvPr id="20" name="r20"/>
          <p:cNvSpPr/>
          <p:nvPr/>
        </p:nvSpPr>
        <p:spPr>
          <a:xfrm>
            <a:off x="288000" y="1188000"/>
            <a:ext cx="5580000" cy="4500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solidFill>
              <a:srgbClr val="4A54C8"/>
            </a:solidFill>
          </a:ln>
        </p:spPr>
        <p:txBody>
          <a:bodyPr/>
          <a:lstStyle/>
        </p:txBody>
      </p:sp>
      <p:sp>
        <p:nvSpPr>
          <p:cNvPr id="30" name="r30"/>
          <p:cNvSpPr/>
          <p:nvPr/>
        </p:nvSpPr>
        <p:spPr>
          <a:xfrm>
            <a:off x="288000" y="1188000"/>
            <a:ext cx="5580000" cy="540000"/>
          </a:xfrm>
          <a:prstGeom prst="rect">
            <a:avLst/>
          </a:prstGeom>
          <a:solidFill>
            <a:srgbClr val="4A54C8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224000"/>
            <a:ext cx="5400000" cy="503999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FFFFFF"/>
                </a:solidFill>
              </a:rPr>
              <a:t>NAZARIY NATIJALAR</a:t>
            </a:r>
          </a:p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1835999"/>
            <a:ext cx="5400000" cy="378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200" b="0" i="0" dirty="0">
                <a:solidFill>
                  <a:srgbClr val="1A1A2E"/>
                </a:solidFill>
              </a:rPr>
              <a:t>• Ko'p o'zgaruvchili funksiyalar differensial hisobining fundamental tushunchalari o'rganildi</a:t>
            </a:r>
          </a:p>
          <a:p>
            <a:pPr algn="left"/>
            <a:r>
              <a:rPr lang="uz-UZ" sz="1200" b="0" i="0" dirty="0">
                <a:solidFill>
                  <a:srgbClr val="1A1A2E"/>
                </a:solidFill>
              </a:rPr>
              <a:t>• Xususiy hosila va to'liq differensial orasidagi bog'liqlik aniqlandi</a:t>
            </a:r>
          </a:p>
          <a:p>
            <a:pPr algn="left"/>
            <a:r>
              <a:rPr lang="uz-UZ" sz="1200" b="0" i="0" dirty="0">
                <a:solidFill>
                  <a:srgbClr val="1A1A2E"/>
                </a:solidFill>
              </a:rPr>
              <a:t>• Gradient va yo'nalish bo'yicha hosilaning geometrik va fizik ma'nosi yoritildi</a:t>
            </a:r>
          </a:p>
          <a:p>
            <a:pPr algn="left"/>
            <a:r>
              <a:rPr lang="uz-UZ" sz="1200" b="0" i="0" dirty="0">
                <a:solidFill>
                  <a:srgbClr val="1A1A2E"/>
                </a:solidFill>
              </a:rPr>
              <a:t>• Shvarts teoremasi va differensial shakl invariantligi isbotlandi</a:t>
            </a:r>
          </a:p>
        </p:txBody>
      </p:sp>
      <p:sp>
        <p:nvSpPr>
          <p:cNvPr id="21" name="r21"/>
          <p:cNvSpPr/>
          <p:nvPr/>
        </p:nvSpPr>
        <p:spPr>
          <a:xfrm>
            <a:off x="6300000" y="1188000"/>
            <a:ext cx="5580000" cy="450000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>
            <a:solidFill>
              <a:srgbClr val="764BA2"/>
            </a:solidFill>
          </a:ln>
        </p:spPr>
        <p:txBody>
          <a:bodyPr/>
          <a:lstStyle/>
        </p:txBody>
      </p:sp>
      <p:sp>
        <p:nvSpPr>
          <p:cNvPr id="31" name="r31"/>
          <p:cNvSpPr/>
          <p:nvPr/>
        </p:nvSpPr>
        <p:spPr>
          <a:xfrm>
            <a:off x="6300000" y="1188000"/>
            <a:ext cx="5580000" cy="540000"/>
          </a:xfrm>
          <a:prstGeom prst="rect">
            <a:avLst/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443999" y="1224000"/>
            <a:ext cx="5400000" cy="503999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400" b="1" i="0" dirty="0">
                <a:solidFill>
                  <a:srgbClr val="FFFFFF"/>
                </a:solidFill>
              </a:rPr>
              <a:t>AMALIY NATIJALAR</a:t>
            </a:r>
          </a:p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6443999" y="1835999"/>
            <a:ext cx="5400000" cy="3780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left"/>
            <a:r>
              <a:rPr lang="uz-UZ" sz="1200" b="0" i="0" dirty="0">
                <a:solidFill>
                  <a:srgbClr val="1A1A2E"/>
                </a:solidFill>
              </a:rPr>
              <a:t>• Taqribiy hisoblash usullari o'zlashtirildi</a:t>
            </a:r>
          </a:p>
          <a:p>
            <a:pPr algn="left"/>
            <a:r>
              <a:rPr lang="uz-UZ" sz="1200" b="0" i="0" dirty="0">
                <a:solidFill>
                  <a:srgbClr val="1A1A2E"/>
                </a:solidFill>
              </a:rPr>
              <a:t>• Teylor formulasi ko'p o'zgaruvchili holga tatbiq etildi</a:t>
            </a:r>
          </a:p>
          <a:p>
            <a:pPr algn="left"/>
            <a:r>
              <a:rPr lang="uz-UZ" sz="1200" b="0" i="0" dirty="0">
                <a:solidFill>
                  <a:srgbClr val="1A1A2E"/>
                </a:solidFill>
              </a:rPr>
              <a:t>• Ekstremumlarni topish (Silvestr alomati) o'rganildi</a:t>
            </a:r>
          </a:p>
          <a:p>
            <a:pPr algn="left"/>
            <a:r>
              <a:rPr lang="uz-UZ" sz="1200" b="0" i="0" dirty="0">
                <a:solidFill>
                  <a:srgbClr val="1A1A2E"/>
                </a:solidFill>
              </a:rPr>
              <a:t>• Eng kichik kvadratlar usuli bilan empirik formulalar hosil qilindi</a:t>
            </a:r>
          </a:p>
        </p:txBody>
      </p:sp>
      <p:sp>
        <p:nvSpPr>
          <p:cNvPr id="22" name="r22"/>
          <p:cNvSpPr/>
          <p:nvPr/>
        </p:nvSpPr>
        <p:spPr>
          <a:xfrm>
            <a:off x="288000" y="5868000"/>
            <a:ext cx="11627999" cy="7200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>
            <a:solidFill>
              <a:srgbClr val="FFC107"/>
            </a:solidFill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432000" y="5903999"/>
            <a:ext cx="11520000" cy="64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300" b="0" i="0" dirty="0">
                <a:solidFill>
                  <a:srgbClr val="7B5E00"/>
                </a:solidFill>
              </a:rPr>
              <a:t>Ko'p o'zgaruvchili funksiyalar differensial hisobi – real dunyodagi ko'p omilli jarayonlarni matematik tilda ifodalash,</a:t>
            </a:r>
          </a:p>
          <a:p>
            <a:pPr algn="ctr"/>
            <a:r>
              <a:rPr lang="uz-UZ" sz="1400" b="1" i="0" dirty="0">
                <a:solidFill>
                  <a:srgbClr val="7B5E00"/>
                </a:solidFill>
              </a:rPr>
              <a:t>tahlil qilish va optimal yechimlar topish uchun kuchli va universal vositadir!</a:t>
            </a:r>
          </a:p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0" y="6318000"/>
            <a:ext cx="12193200" cy="468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2000" b="1" i="0" dirty="0">
                <a:solidFill>
                  <a:srgbClr val="764BA2"/>
                </a:solidFill>
              </a:rPr>
              <a:t>E'TIBORINGIZ UCHUN RAHMAT!  🎓</a:t>
            </a:r>
          </a:p>
        </p:txBody>
      </p:sp>
      <p:sp>
        <p:nvSpPr>
          <p:cNvPr id="99" name="r99"/>
          <p:cNvSpPr/>
          <p:nvPr/>
        </p:nvSpPr>
        <p:spPr>
          <a:xfrm>
            <a:off x="11293200" y="6462000"/>
            <a:ext cx="648000" cy="251999"/>
          </a:xfrm>
          <a:prstGeom prst="roundRect">
            <a:avLst>
              <a:gd name="adj" fmla="val 20000"/>
            </a:avLst>
          </a:prstGeom>
          <a:solidFill>
            <a:srgbClr val="764BA2"/>
          </a:solidFill>
          <a:ln w="0">
            <a:noFill/>
          </a:ln>
        </p:spPr>
        <p:txBody>
          <a:bodyPr/>
          <a:lstStyle/>
        </p:txBody>
      </p:sp>
      <p:sp>
        <p:nvSpPr>
          <p:cNvPr id="2" name="tb"/>
          <p:cNvSpPr txBox="1">
            <a:spLocks noGrp="1"/>
          </p:cNvSpPr>
          <p:nvPr/>
        </p:nvSpPr>
        <p:spPr>
          <a:xfrm>
            <a:off x="11329200" y="6480000"/>
            <a:ext cx="576000" cy="216000"/>
          </a:xfrm>
          <a:prstGeom prst="rect">
            <a:avLst/>
          </a:prstGeom>
          <a:noFill/>
        </p:spPr>
        <p:txBody>
          <a:bodyPr vert="horz" wrap="square" lIns="91440" rIns="91440" tIns="45720" bIns="45720" anchor="t"/>
          <a:lstStyle/>
          <a:p>
            <a:pPr algn="ctr"/>
            <a:r>
              <a:rPr lang="uz-UZ" sz="1200" b="1" i="0" dirty="0">
                <a:solidFill>
                  <a:srgbClr val="FFFFFF"/>
                </a:solidFill>
              </a:rPr>
              <a:t>15</a:t>
            </a:r>
          </a:p>
        </p:txBody>
      </p:sp>
    </p:spTree>
  </p:cSld>
</p:sld>
</file>